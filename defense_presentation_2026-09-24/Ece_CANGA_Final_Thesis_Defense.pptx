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3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6"/>
  </p:normalViewPr>
  <p:slideViewPr>
    <p:cSldViewPr snapToGrid="0" snapToObjects="1">
      <p:cViewPr varScale="1">
        <p:scale>
          <a:sx n="114" d="100"/>
          <a:sy n="114" d="100"/>
        </p:scale>
        <p:origin x="6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Macro AP</c:v>
                </c:pt>
              </c:strCache>
            </c:strRef>
          </c:tx>
          <c:spPr>
            <a:solidFill>
              <a:srgbClr val="14818B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88A2A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81F-524A-82B2-7B63169ED9CB}"/>
              </c:ext>
            </c:extLst>
          </c:dPt>
          <c:dPt>
            <c:idx val="1"/>
            <c:invertIfNegative val="1"/>
            <c:bubble3D val="0"/>
            <c:spPr>
              <a:solidFill>
                <a:srgbClr val="88A2A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781F-524A-82B2-7B63169ED9CB}"/>
              </c:ext>
            </c:extLst>
          </c:dPt>
          <c:dPt>
            <c:idx val="2"/>
            <c:invertIfNegative val="1"/>
            <c:bubble3D val="0"/>
            <c:spPr>
              <a:solidFill>
                <a:srgbClr val="88A2A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781F-524A-82B2-7B63169ED9CB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781F-524A-82B2-7B63169ED9CB}"/>
              </c:ext>
            </c:extLst>
          </c:dPt>
          <c:dPt>
            <c:idx val="4"/>
            <c:invertIfNegative val="1"/>
            <c:bubble3D val="0"/>
            <c:spPr>
              <a:solidFill>
                <a:srgbClr val="88A2A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781F-524A-82B2-7B63169ED9CB}"/>
              </c:ext>
            </c:extLst>
          </c:dPt>
          <c:dLbls>
            <c:numFmt formatCode="[$-409]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>
                    <a:solidFill>
                      <a:srgbClr val="173B4D"/>
                    </a:solidFill>
                    <a:latin typeface="Arial"/>
                  </a:defRPr>
                </a:pPr>
                <a:endParaRPr lang="en-T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Logistic
Regression</c:v>
                </c:pt>
                <c:pt idx="1">
                  <c:v>XGBoost</c:v>
                </c:pt>
                <c:pt idx="2">
                  <c:v>Random
Forest</c:v>
                </c:pt>
                <c:pt idx="3">
                  <c:v>BERT</c:v>
                </c:pt>
                <c:pt idx="4">
                  <c:v>BiLSTM +
Attention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0.3145</c:v>
                </c:pt>
                <c:pt idx="1">
                  <c:v>0.30940000000000001</c:v>
                </c:pt>
                <c:pt idx="2">
                  <c:v>0.33460000000000001</c:v>
                </c:pt>
                <c:pt idx="3">
                  <c:v>0.35899999999999999</c:v>
                </c:pt>
                <c:pt idx="4">
                  <c:v>0.27529999999999999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A-781F-524A-82B2-7B63169ED9C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173B4D"/>
                </a:solidFill>
                <a:latin typeface="Arial"/>
              </a:defRPr>
            </a:pPr>
            <a:endParaRPr lang="en-T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"/>
          <c:min val="0"/>
        </c:scaling>
        <c:delete val="0"/>
        <c:axPos val="l"/>
        <c:majorGridlines>
          <c:spPr>
            <a:ln w="6350">
              <a:solidFill>
                <a:srgbClr val="DCE5E8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173B4D"/>
                </a:solidFill>
                <a:latin typeface="Arial"/>
              </a:defRPr>
            </a:pPr>
            <a:endParaRPr lang="en-TR"/>
          </a:p>
        </c:txPr>
        <c:crossAx val="-2068027336"/>
        <c:crosses val="autoZero"/>
        <c:crossBetween val="between"/>
        <c:majorUnit val="0.1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Reference positives</c:v>
                </c:pt>
              </c:strCache>
            </c:strRef>
          </c:tx>
          <c:spPr>
            <a:solidFill>
              <a:srgbClr val="14818B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C0A6-7148-92D3-61FA8A9BF125}"/>
              </c:ext>
            </c:extLst>
          </c:dPt>
          <c:dPt>
            <c:idx val="1"/>
            <c:invertIfNegative val="1"/>
            <c:bubble3D val="0"/>
            <c:spPr>
              <a:solidFill>
                <a:srgbClr val="88A2A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0A6-7148-92D3-61FA8A9BF125}"/>
              </c:ext>
            </c:extLst>
          </c:dPt>
          <c:dPt>
            <c:idx val="2"/>
            <c:invertIfNegative val="1"/>
            <c:bubble3D val="0"/>
            <c:spPr>
              <a:solidFill>
                <a:srgbClr val="88A2A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C0A6-7148-92D3-61FA8A9BF125}"/>
              </c:ext>
            </c:extLst>
          </c:dPt>
          <c:dPt>
            <c:idx val="3"/>
            <c:invertIfNegative val="1"/>
            <c:bubble3D val="0"/>
            <c:spPr>
              <a:solidFill>
                <a:srgbClr val="88A2A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C0A6-7148-92D3-61FA8A9BF125}"/>
              </c:ext>
            </c:extLst>
          </c:dPt>
          <c:dPt>
            <c:idx val="4"/>
            <c:invertIfNegative val="1"/>
            <c:bubble3D val="0"/>
            <c:spPr>
              <a:solidFill>
                <a:srgbClr val="88A2A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C0A6-7148-92D3-61FA8A9BF125}"/>
              </c:ext>
            </c:extLst>
          </c:dPt>
          <c:dPt>
            <c:idx val="5"/>
            <c:invertIfNegative val="1"/>
            <c:bubble3D val="0"/>
            <c:spPr>
              <a:solidFill>
                <a:srgbClr val="88A2A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C0A6-7148-92D3-61FA8A9BF125}"/>
              </c:ext>
            </c:extLst>
          </c:dPt>
          <c:dPt>
            <c:idx val="6"/>
            <c:invertIfNegative val="1"/>
            <c:bubble3D val="0"/>
            <c:spPr>
              <a:solidFill>
                <a:srgbClr val="88A2A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C0A6-7148-92D3-61FA8A9BF125}"/>
              </c:ext>
            </c:extLst>
          </c:dPt>
          <c:dLbls>
            <c:numFmt formatCode="[$-409]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>
                    <a:solidFill>
                      <a:srgbClr val="173B4D"/>
                    </a:solidFill>
                    <a:latin typeface="Arial"/>
                  </a:defRPr>
                </a:pPr>
                <a:endParaRPr lang="en-T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Joy</c:v>
                </c:pt>
                <c:pt idx="1">
                  <c:v>Trust</c:v>
                </c:pt>
                <c:pt idx="2">
                  <c:v>Anticipation</c:v>
                </c:pt>
                <c:pt idx="3">
                  <c:v>Surprise</c:v>
                </c:pt>
                <c:pt idx="4">
                  <c:v>Disgust</c:v>
                </c:pt>
                <c:pt idx="5">
                  <c:v>Sadness</c:v>
                </c:pt>
                <c:pt idx="6">
                  <c:v>Fear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622</c:v>
                </c:pt>
                <c:pt idx="1">
                  <c:v>476</c:v>
                </c:pt>
                <c:pt idx="2">
                  <c:v>366</c:v>
                </c:pt>
                <c:pt idx="3">
                  <c:v>44</c:v>
                </c:pt>
                <c:pt idx="4">
                  <c:v>19</c:v>
                </c:pt>
                <c:pt idx="5">
                  <c:v>11</c:v>
                </c:pt>
                <c:pt idx="6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E-C0A6-7148-92D3-61FA8A9BF12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173B4D"/>
                </a:solidFill>
                <a:latin typeface="Arial"/>
              </a:defRPr>
            </a:pPr>
            <a:endParaRPr lang="en-T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00"/>
          <c:min val="0"/>
        </c:scaling>
        <c:delete val="0"/>
        <c:axPos val="l"/>
        <c:majorGridlines>
          <c:spPr>
            <a:ln w="6350">
              <a:solidFill>
                <a:srgbClr val="DCE5E8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173B4D"/>
                </a:solidFill>
                <a:latin typeface="Arial"/>
              </a:defRPr>
            </a:pPr>
            <a:endParaRPr lang="en-TR"/>
          </a:p>
        </c:txPr>
        <c:crossAx val="-2068027336"/>
        <c:crosses val="autoZero"/>
        <c:crossBetween val="between"/>
        <c:majorUnit val="10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Natural only</c:v>
                </c:pt>
              </c:strCache>
            </c:strRef>
          </c:tx>
          <c:spPr>
            <a:solidFill>
              <a:srgbClr val="14818B"/>
            </a:solidFill>
            <a:ln>
              <a:noFill/>
            </a:ln>
          </c:spPr>
          <c:invertIfNegative val="1"/>
          <c:dLbls>
            <c:numFmt formatCode="[$-409]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>
                    <a:solidFill>
                      <a:srgbClr val="173B4D"/>
                    </a:solidFill>
                    <a:latin typeface="Arial"/>
                  </a:defRPr>
                </a:pPr>
                <a:endParaRPr lang="en-T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Logistic
Regression</c:v>
                </c:pt>
                <c:pt idx="1">
                  <c:v>XGBoost</c:v>
                </c:pt>
                <c:pt idx="2">
                  <c:v>Random
Forest</c:v>
                </c:pt>
                <c:pt idx="3">
                  <c:v>BERT</c:v>
                </c:pt>
                <c:pt idx="4">
                  <c:v>BiLSTM +
Attention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0.3145</c:v>
                </c:pt>
                <c:pt idx="1">
                  <c:v>0.30940000000000001</c:v>
                </c:pt>
                <c:pt idx="2">
                  <c:v>0.33460000000000001</c:v>
                </c:pt>
                <c:pt idx="3">
                  <c:v>0.35899999999999999</c:v>
                </c:pt>
                <c:pt idx="4">
                  <c:v>0.27529999999999999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A12E-9D42-AE66-93DA5D1E20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Natural + synthetic</c:v>
                </c:pt>
              </c:strCache>
            </c:strRef>
          </c:tx>
          <c:spPr>
            <a:solidFill>
              <a:srgbClr val="CC7520"/>
            </a:solidFill>
            <a:ln>
              <a:noFill/>
            </a:ln>
          </c:spPr>
          <c:invertIfNegative val="1"/>
          <c:dLbls>
            <c:numFmt formatCode="[$-409]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>
                    <a:solidFill>
                      <a:srgbClr val="173B4D"/>
                    </a:solidFill>
                    <a:latin typeface="Arial"/>
                  </a:defRPr>
                </a:pPr>
                <a:endParaRPr lang="en-T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Logistic
Regression</c:v>
                </c:pt>
                <c:pt idx="1">
                  <c:v>XGBoost</c:v>
                </c:pt>
                <c:pt idx="2">
                  <c:v>Random
Forest</c:v>
                </c:pt>
                <c:pt idx="3">
                  <c:v>BERT</c:v>
                </c:pt>
                <c:pt idx="4">
                  <c:v>BiLSTM +
Attention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0.35049999999999998</c:v>
                </c:pt>
                <c:pt idx="1">
                  <c:v>0.31080000000000002</c:v>
                </c:pt>
                <c:pt idx="2">
                  <c:v>0.3145</c:v>
                </c:pt>
                <c:pt idx="3">
                  <c:v>0.32100000000000001</c:v>
                </c:pt>
                <c:pt idx="4">
                  <c:v>0.2772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A12E-9D42-AE66-93DA5D1E206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173B4D"/>
                </a:solidFill>
                <a:latin typeface="Arial"/>
              </a:defRPr>
            </a:pPr>
            <a:endParaRPr lang="en-T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"/>
          <c:min val="0"/>
        </c:scaling>
        <c:delete val="0"/>
        <c:axPos val="l"/>
        <c:majorGridlines>
          <c:spPr>
            <a:ln w="6350">
              <a:solidFill>
                <a:srgbClr val="DCE5E8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173B4D"/>
                </a:solidFill>
                <a:latin typeface="Arial"/>
              </a:defRPr>
            </a:pPr>
            <a:endParaRPr lang="en-TR"/>
          </a:p>
        </c:txPr>
        <c:crossAx val="-2068027336"/>
        <c:crosses val="autoZero"/>
        <c:crossBetween val="between"/>
        <c:majorUnit val="0.1"/>
      </c:valAx>
    </c:plotArea>
    <c:legend>
      <c:legendPos val="b"/>
      <c:overlay val="0"/>
      <c:txPr>
        <a:bodyPr/>
        <a:lstStyle/>
        <a:p>
          <a:pPr>
            <a:defRPr sz="1500">
              <a:latin typeface="Arial"/>
            </a:defRPr>
          </a:pPr>
          <a:endParaRPr lang="en-T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2927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 — Emotions in</a:t>
            </a:r>
          </a:p>
          <a:p>
            <a:r>
              <a:t>Perfume Reviews</a:t>
            </a:r>
          </a:p>
          <a:p>
            <a:r>
              <a:t>Source: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— Why look beyond positive and negative reviews?</a:t>
            </a:r>
          </a:p>
          <a:p>
            <a:r>
              <a:t>Source: Nikitina &amp; Furuoka (2023); Nandwani &amp; Verma (2021).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 — One review can express several emotions</a:t>
            </a:r>
          </a:p>
          <a:p>
            <a:r>
              <a:t>Source: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 — Existing methods provide different kinds of evidence</a:t>
            </a:r>
          </a:p>
          <a:p>
            <a:r>
              <a:t>Source: Mohammad &amp; Turney (2013); Mohammad (2018); Demszky et al. (2020); Devlin et al. (2019).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 — Three research questions</a:t>
            </a:r>
          </a:p>
          <a:p>
            <a:r>
              <a:t>Source: Thesis §1.4.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 — What this thesis contributes</a:t>
            </a:r>
          </a:p>
          <a:p>
            <a:r>
              <a:t>Source: Thesis §§1.5 and 6.3.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 — From review transcripts to perfume-level predictions</a:t>
            </a:r>
          </a:p>
          <a:p>
            <a:r>
              <a:t>Source: Thesis §3.2.1; Table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8 — The reference labels follow a fixed annotation policy</a:t>
            </a:r>
          </a:p>
          <a:p>
            <a:r>
              <a:t>Source: Thesis §3.4; Niu et al. (2024), methodological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9 — The AI tools have four different roles</a:t>
            </a:r>
          </a:p>
          <a:p>
            <a:r>
              <a:t>Source: Thesis §§3.2.2 and 3.4–3.6.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10 — Two routes lead to the same prediction task</a:t>
            </a:r>
          </a:p>
          <a:p>
            <a:r>
              <a:t>Source: Simplified from thesis Figure 1; §§3.5–3.7.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11 — What do the 58 features describe?</a:t>
            </a:r>
          </a:p>
          <a:p>
            <a:r>
              <a:t>Source: Thesis §3.5; Table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 — Five models, grouped by their inputs</a:t>
            </a:r>
          </a:p>
          <a:p>
            <a:r>
              <a:t>Source: Thesis §3.6; Table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13 — Performance is measured on held-out perfumes</a:t>
            </a:r>
          </a:p>
          <a:p>
            <a:r>
              <a:t>Source: Thesis §§3.7 and 4.1.1.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14 — Shared sources stay together</a:t>
            </a:r>
          </a:p>
          <a:p>
            <a:r>
              <a:t>Source: Thesis §3.7; Table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15 — Different scores answer different questions</a:t>
            </a:r>
          </a:p>
          <a:p>
            <a:r>
              <a:t>Source: Thesis §4.1.3; Saito &amp; Rehmsmeier (2015).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16 — A real example connects the steps</a:t>
            </a:r>
          </a:p>
          <a:p>
            <a:r>
              <a:t>Source: Thesis §3.9; Table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17 — BERT has the highest observed Macro AP</a:t>
            </a:r>
          </a:p>
          <a:p>
            <a:r>
              <a:t>Source: YouTube-only training; pooled out-of-fold predictions. Thesis Tables 9 and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18 — The leading model depends on the metric</a:t>
            </a:r>
          </a:p>
          <a:p>
            <a:r>
              <a:t>Source: Thesis Tables 9 and 10; §4.4.2.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19 — Emotion frequencies shape the evidence</a:t>
            </a:r>
          </a:p>
          <a:p>
            <a:r>
              <a:t>Source: Thesis Table 14; §4.6.1. Counts are perfume-level reference positives.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 — Prediction behaviour helps explain F1</a:t>
            </a:r>
          </a:p>
          <a:p>
            <a:r>
              <a:t>Source: Thesis Tables 13–15. BERT, YouTube-only training, cutoff 0.30.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21 — Feature combinations affect models differently</a:t>
            </a:r>
          </a:p>
          <a:p>
            <a:r>
              <a:t>Source: Thesis §4.5.1; Table 12. Results use the tested fixed model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22 — Generated reviews test an additional training-data strategy</a:t>
            </a:r>
          </a:p>
          <a:p>
            <a:r>
              <a:t>Source: Thesis §3.2.2.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23 — Both training conditions face the same natural test data</a:t>
            </a:r>
          </a:p>
          <a:p>
            <a:r>
              <a:t>Source: Thesis §§3.8 and 4.1.1. Base weighting is before model-specific class weighting.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 — Augmentation produces mixed changes</a:t>
            </a:r>
          </a:p>
          <a:p>
            <a:r>
              <a:t>Source: Thesis Tables 9 and 10. Pooled out-of-fold Macro AP on the same natural test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25 — The evidence does not establish a general augmentation benefit</a:t>
            </a:r>
          </a:p>
          <a:p>
            <a:r>
              <a:t>Source: Thesis §4.4.3; Table 11. Paired source-group bootstrap intervals.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26 — Answers to the research questions</a:t>
            </a:r>
          </a:p>
          <a:p>
            <a:r>
              <a:t>Source: Thesis §6.2.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27 — The scope of the conclusions</a:t>
            </a:r>
          </a:p>
          <a:p>
            <a:r>
              <a:t>Source: Thesis §5.6.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28 — Three priorities for extending the work</a:t>
            </a:r>
          </a:p>
          <a:p>
            <a:r>
              <a:t>Source: Thesis §6.4.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29 — Three takeaways</a:t>
            </a:r>
          </a:p>
          <a:p>
            <a:r>
              <a:t>Source: Thesis §§6.1–6.3.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30 — Thank you</a:t>
            </a:r>
          </a:p>
          <a:p>
            <a:r>
              <a:t>Source: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A1 — Full results: natural training data</a:t>
            </a:r>
          </a:p>
          <a:p>
            <a:r>
              <a:t>Source: Thesis Tables 9 and 10. Pooled out-of-fold predictions; seven labels; cutoff 0.30.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A2 — Full results: augmented training data</a:t>
            </a:r>
          </a:p>
          <a:p>
            <a:r>
              <a:t>Source: Thesis §§3.8 and 4.1.1; Tables 9 and 10. Pooled out-of-fold results; cutoff 0.30.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A3 — Source grouping and fold sizes</a:t>
            </a:r>
          </a:p>
          <a:p>
            <a:r>
              <a:t>Source: Thesis §3.7; Figure 5; Table 8; saved fold assignments.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A4 — Augmentation uncertainty under equal-source weighting</a:t>
            </a:r>
          </a:p>
          <a:p>
            <a:r>
              <a:t>Source: Thesis §4.4.3; Table 11. Changes are augmented minus natural-only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A5 — Annotation policy and validation boundaries</a:t>
            </a:r>
          </a:p>
          <a:p>
            <a:r>
              <a:t>Source: Thesis §3.4; Appendices 2 and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A6 — Input scope and model configuration</a:t>
            </a:r>
          </a:p>
          <a:p>
            <a:r>
              <a:t>Source: Thesis §§3.5.3 and 3.6.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A7 — Per-emotion F1: natural training data</a:t>
            </a:r>
          </a:p>
          <a:p>
            <a:r>
              <a:t>Source: Thesis Table 14. Perfume-level reference support; cutoff 0.30; BiLSTM uses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A8 — Selected references</a:t>
            </a:r>
          </a:p>
          <a:p>
            <a:r>
              <a:t>Source: All eight works are cited in the thesis. Titles are linked to the source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A9 — Threshold sensitivity</a:t>
            </a:r>
          </a:p>
          <a:p>
            <a:r>
              <a:t>Source: Thesis §4.5.2; Table 13. Macro F1 from the same YouTube-only out-of-fold probabilities.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A10 — Model-comparison uncertainty</a:t>
            </a:r>
          </a:p>
          <a:p>
            <a:r>
              <a:t>Source: Thesis §4.4.2. Unadjusted 95% source-group bootstrap intervals; conditional on fitted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aclanthology.org/N19-1423/" TargetMode="External"/><Relationship Id="rId3" Type="http://schemas.openxmlformats.org/officeDocument/2006/relationships/hyperlink" Target="https://doi.org/10.1515/lingvan-2022-0135" TargetMode="External"/><Relationship Id="rId7" Type="http://schemas.openxmlformats.org/officeDocument/2006/relationships/hyperlink" Target="https://aclanthology.org/2020.acl-main.372/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clanthology.org/P18-1017/" TargetMode="External"/><Relationship Id="rId5" Type="http://schemas.openxmlformats.org/officeDocument/2006/relationships/hyperlink" Target="https://doi.org/10.1111/j.1467-8640.2012.00460.x" TargetMode="External"/><Relationship Id="rId10" Type="http://schemas.openxmlformats.org/officeDocument/2006/relationships/hyperlink" Target="https://arxiv.org/abs/2412.07906" TargetMode="External"/><Relationship Id="rId4" Type="http://schemas.openxmlformats.org/officeDocument/2006/relationships/hyperlink" Target="https://doi.org/10.1007/s13278-021-00776-6" TargetMode="External"/><Relationship Id="rId9" Type="http://schemas.openxmlformats.org/officeDocument/2006/relationships/hyperlink" Target="https://doi.org/10.1371/journal.pone.0118432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88A2AF"/>
                </a:solidFill>
                <a:latin typeface="Arial"/>
              </a:defRPr>
            </a:pPr>
            <a:r>
              <a:t>MASTER’S THESIS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4500" b="1">
                <a:solidFill>
                  <a:srgbClr val="FFFFFF"/>
                </a:solidFill>
                <a:latin typeface="Arial"/>
              </a:defRPr>
            </a:pPr>
            <a:r>
              <a:t>Emotions in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4500" b="1">
                <a:solidFill>
                  <a:srgbClr val="FFFFFF"/>
                </a:solidFill>
                <a:latin typeface="Arial"/>
              </a:defRPr>
            </a:pPr>
            <a:r>
              <a:t>Perfume Reviews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88A2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88A2A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2706624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Advanced Sentiment Analysis Framework for Olfactory Perception Mining: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Utilizing Machine Learning and Deep Learning Techniques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on Social Media Data Streams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" y="4197096"/>
            <a:ext cx="914400" cy="36576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" y="452628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Ece ÇANGA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5074920"/>
            <a:ext cx="548640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Computer Engineering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Çankaya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07492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Supervisor: Assoc. Prof. Dr. Serdar ARSLAN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Why look beyond positive and negative reviews?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Nikitina &amp; Furuoka (2023); Nandwani &amp; Verma (2021).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400" b="0">
                <a:solidFill>
                  <a:srgbClr val="173B4D"/>
                </a:solidFill>
                <a:latin typeface="Arial"/>
              </a:defRPr>
            </a:pPr>
            <a:r>
              <a:t>Perfume reviews describe sensory impressions and emotional associations.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761488"/>
            <a:ext cx="5376672" cy="19110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2761488"/>
            <a:ext cx="50292" cy="1911095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962656"/>
            <a:ext cx="495604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Enjoyment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694176"/>
            <a:ext cx="4956048" cy="868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500" b="0">
                <a:solidFill>
                  <a:srgbClr val="173B4D"/>
                </a:solidFill>
                <a:latin typeface="Arial"/>
              </a:defRPr>
            </a:pPr>
            <a:r>
              <a:t>“This makes me happy.”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2761488"/>
            <a:ext cx="5376672" cy="19110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08776" y="2761488"/>
            <a:ext cx="50292" cy="1911095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2962656"/>
            <a:ext cx="495604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Anticipation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694176"/>
            <a:ext cx="4956048" cy="868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500" b="0">
                <a:solidFill>
                  <a:srgbClr val="173B4D"/>
                </a:solidFill>
                <a:latin typeface="Arial"/>
              </a:defRPr>
            </a:pPr>
            <a:r>
              <a:t>“I cannot wait to wear this.”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37176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0">
                <a:solidFill>
                  <a:srgbClr val="5F727C"/>
                </a:solidFill>
                <a:latin typeface="Arial"/>
              </a:defRPr>
            </a:pPr>
            <a:r>
              <a:t>Two positive reviews; different emotional meanings. Illustrative examples.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513832"/>
            <a:ext cx="11000232" cy="612648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5577840"/>
            <a:ext cx="1056132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173B4D"/>
                </a:solidFill>
                <a:latin typeface="Arial"/>
              </a:defRPr>
            </a:pPr>
            <a:r>
              <a:t>Emotion classification offers a more detailed description of review 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THE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One review can express several emotions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56231"/>
            <a:ext cx="11000232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048256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700" b="1">
                <a:solidFill>
                  <a:srgbClr val="173B4D"/>
                </a:solidFill>
                <a:latin typeface="Arial"/>
              </a:defRPr>
            </a:pPr>
            <a:r>
              <a:t>“This perfume makes me happy, and I cannot wait to wear it.”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20954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5F727C"/>
                </a:solidFill>
                <a:latin typeface="Arial"/>
              </a:defRPr>
            </a:pPr>
            <a:r>
              <a:t>Illustrative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218688"/>
            <a:ext cx="1600200" cy="457200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13448" y="3300984"/>
            <a:ext cx="147218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800" b="1">
                <a:solidFill>
                  <a:srgbClr val="173B4D"/>
                </a:solidFill>
                <a:latin typeface="Arial"/>
              </a:defRPr>
            </a:pPr>
            <a:r>
              <a:t>Joy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25526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0">
                <a:solidFill>
                  <a:srgbClr val="173B4D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3218688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62288" y="3300984"/>
            <a:ext cx="215798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800" b="1">
                <a:solidFill>
                  <a:srgbClr val="173B4D"/>
                </a:solidFill>
                <a:latin typeface="Arial"/>
              </a:defRPr>
            </a:pPr>
            <a:r>
              <a:t>Anticipation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1363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0">
                <a:solidFill>
                  <a:srgbClr val="173B4D"/>
                </a:solidFill>
                <a:latin typeface="Arial"/>
              </a:defRPr>
            </a:pPr>
            <a:r>
              <a:t>The task allows multiple emotion labels for the same perfume, based on its review 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837176"/>
            <a:ext cx="1097280" cy="457200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4919472"/>
            <a:ext cx="96926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700" b="1">
                <a:solidFill>
                  <a:srgbClr val="173B4D"/>
                </a:solidFill>
                <a:latin typeface="Arial"/>
              </a:defRPr>
            </a:pPr>
            <a:r>
              <a:t>Joy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65376" y="4837176"/>
            <a:ext cx="1188720" cy="457200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29384" y="4919472"/>
            <a:ext cx="106070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700" b="1">
                <a:solidFill>
                  <a:srgbClr val="173B4D"/>
                </a:solidFill>
                <a:latin typeface="Arial"/>
              </a:defRPr>
            </a:pPr>
            <a:r>
              <a:t>Trust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27832" y="4837176"/>
            <a:ext cx="2057400" cy="457200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91839" y="4919472"/>
            <a:ext cx="192938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700" b="1">
                <a:solidFill>
                  <a:srgbClr val="173B4D"/>
                </a:solidFill>
                <a:latin typeface="Arial"/>
              </a:defRPr>
            </a:pPr>
            <a:r>
              <a:t>Anticipation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58968" y="4837176"/>
            <a:ext cx="1508760" cy="457200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22976" y="4919472"/>
            <a:ext cx="1380743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700" b="1">
                <a:solidFill>
                  <a:srgbClr val="173B4D"/>
                </a:solidFill>
                <a:latin typeface="Arial"/>
              </a:defRPr>
            </a:pPr>
            <a:r>
              <a:t>Surprise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41464" y="4837176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05472" y="4919472"/>
            <a:ext cx="133502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700" b="1">
                <a:solidFill>
                  <a:srgbClr val="173B4D"/>
                </a:solidFill>
                <a:latin typeface="Arial"/>
              </a:defRPr>
            </a:pPr>
            <a:r>
              <a:t>Sadness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4837176"/>
            <a:ext cx="1097280" cy="457200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42248" y="4919472"/>
            <a:ext cx="96926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700" b="1">
                <a:solidFill>
                  <a:srgbClr val="173B4D"/>
                </a:solidFill>
                <a:latin typeface="Arial"/>
              </a:defRPr>
            </a:pPr>
            <a:r>
              <a:t>Fear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49256" y="4837176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13264" y="4919472"/>
            <a:ext cx="128930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700" b="1">
                <a:solidFill>
                  <a:srgbClr val="173B4D"/>
                </a:solidFill>
                <a:latin typeface="Arial"/>
              </a:defRPr>
            </a:pPr>
            <a:r>
              <a:t>Disgust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13832"/>
            <a:ext cx="11000232" cy="612648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28" y="5577840"/>
            <a:ext cx="1056132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0">
                <a:solidFill>
                  <a:srgbClr val="173B4D"/>
                </a:solidFill>
                <a:latin typeface="Arial"/>
              </a:defRPr>
            </a:pPr>
            <a:r>
              <a:t>Target: emotion expressed in review language. Wearer responses are not directly measured.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Existing methods provide different kinds of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Mohammad &amp; Turney (2013); Mohammad (2018); Demszky et al. (2020); Devlin et al. (2019).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04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920240"/>
          <a:ext cx="11000232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1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210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Approach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it contributes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3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Emotion dictionaries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3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Associations between words and emotions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3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Affect dimensions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3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Pleasantness, activation and control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3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Contextual language models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3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Patterns that depend on surrounding text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513832"/>
            <a:ext cx="11000232" cy="612648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5577840"/>
            <a:ext cx="1056132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This thesis evaluates these approaches within a shared perfume-review benchmark.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RESEARCH 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Three research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§1.4.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56231"/>
            <a:ext cx="1024128" cy="1097280"/>
          </a:xfrm>
          <a:prstGeom prst="roundRect">
            <a:avLst>
              <a:gd name="adj" fmla="val 8000"/>
            </a:avLst>
          </a:prstGeom>
          <a:solidFill>
            <a:srgbClr val="17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929384"/>
            <a:ext cx="804672" cy="9509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5376" y="1874519"/>
            <a:ext cx="9464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Representation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5376" y="2304287"/>
            <a:ext cx="946404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173B4D"/>
                </a:solidFill>
                <a:latin typeface="Arial"/>
              </a:defRPr>
            </a:pPr>
            <a:r>
              <a:t>How can perfume-review transcripts be represented as structured emotion features?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246120"/>
            <a:ext cx="1024128" cy="1097280"/>
          </a:xfrm>
          <a:prstGeom prst="roundRect">
            <a:avLst>
              <a:gd name="adj" fmla="val 8000"/>
            </a:avLst>
          </a:prstGeom>
          <a:solidFill>
            <a:srgbClr val="17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3319272"/>
            <a:ext cx="804672" cy="9509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RQ2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376" y="3264408"/>
            <a:ext cx="9464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Model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5376" y="3694176"/>
            <a:ext cx="946404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173B4D"/>
                </a:solidFill>
                <a:latin typeface="Arial"/>
              </a:defRPr>
            </a:pPr>
            <a:r>
              <a:t>How do machine learning and deep learning methods compare in identifying multiple emotions?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636008"/>
            <a:ext cx="1024128" cy="1097280"/>
          </a:xfrm>
          <a:prstGeom prst="roundRect">
            <a:avLst>
              <a:gd name="adj" fmla="val 8000"/>
            </a:avLst>
          </a:prstGeom>
          <a:solidFill>
            <a:srgbClr val="17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" y="4709160"/>
            <a:ext cx="804672" cy="9509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RQ3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65376" y="4654296"/>
            <a:ext cx="9464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Synthetic augmentation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5376" y="5084064"/>
            <a:ext cx="946404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173B4D"/>
                </a:solidFill>
                <a:latin typeface="Arial"/>
              </a:defRPr>
            </a:pPr>
            <a:r>
              <a:t>How does weighted augmentation with generated reviews affect prediction on held-out YouTube perfumes?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What this thesis contributes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§§1.5 and 6.3.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84248"/>
            <a:ext cx="3511296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984248"/>
            <a:ext cx="50292" cy="3291840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185416"/>
            <a:ext cx="3090672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A perfume-review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163824"/>
            <a:ext cx="3090672" cy="2002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173B4D"/>
                </a:solidFill>
                <a:latin typeface="Arial"/>
              </a:defRPr>
            </a:pPr>
            <a:r>
              <a:t>English YouTube transcript records linked to 784 perfumes.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984248"/>
            <a:ext cx="3511296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34256" y="1984248"/>
            <a:ext cx="50292" cy="3291840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185416"/>
            <a:ext cx="3090672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A reproducible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163824"/>
            <a:ext cx="3090672" cy="2002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173B4D"/>
                </a:solidFill>
                <a:latin typeface="Arial"/>
              </a:defRPr>
            </a:pPr>
            <a:r>
              <a:t>A 58-feature representation alongside a direct text modelling route.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1984248"/>
            <a:ext cx="3511296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74152" y="1984248"/>
            <a:ext cx="50292" cy="3291840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4464" y="2185416"/>
            <a:ext cx="3090672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A controlled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163824"/>
            <a:ext cx="3090672" cy="2002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173B4D"/>
                </a:solidFill>
                <a:latin typeface="Arial"/>
              </a:defRPr>
            </a:pPr>
            <a:r>
              <a:t>Five models, feature combinations and weighted synthetic augmentation.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513832"/>
            <a:ext cx="11000232" cy="612648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5577840"/>
            <a:ext cx="1056132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Shared evaluation conditions connect the dataset, representations and experiments.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From review transcripts to perfume-level predictions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§3.2.1; Table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4400" b="1">
                <a:solidFill>
                  <a:srgbClr val="14818B"/>
                </a:solidFill>
                <a:latin typeface="Arial"/>
              </a:defRPr>
            </a:pPr>
            <a:r>
              <a:t>784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87752"/>
            <a:ext cx="3383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00" b="0">
                <a:solidFill>
                  <a:srgbClr val="173B4D"/>
                </a:solidFill>
                <a:latin typeface="Arial"/>
              </a:defRPr>
            </a:pPr>
            <a:r>
              <a:t>perfumes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178308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4400" b="1">
                <a:solidFill>
                  <a:srgbClr val="14818B"/>
                </a:solidFill>
                <a:latin typeface="Arial"/>
              </a:defRPr>
            </a:pPr>
            <a:r>
              <a:t>4,881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587752"/>
            <a:ext cx="3383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00" b="0">
                <a:solidFill>
                  <a:srgbClr val="173B4D"/>
                </a:solidFill>
                <a:latin typeface="Arial"/>
              </a:defRPr>
            </a:pPr>
            <a:r>
              <a:t>usable transcript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7304" y="178308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4400" b="1">
                <a:solidFill>
                  <a:srgbClr val="14818B"/>
                </a:solidFill>
                <a:latin typeface="Arial"/>
              </a:defRPr>
            </a:pPr>
            <a:r>
              <a:t>1–10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587752"/>
            <a:ext cx="3383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00" b="0">
                <a:solidFill>
                  <a:srgbClr val="173B4D"/>
                </a:solidFill>
                <a:latin typeface="Arial"/>
              </a:defRPr>
            </a:pPr>
            <a:r>
              <a:t>records per perfume; median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56432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Perfume-specific YouTube searches supplied available English transcripts.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Retained transcripts contain at least 20 words.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425696"/>
            <a:ext cx="2926080" cy="768096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" y="4498848"/>
            <a:ext cx="270662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73B4D"/>
                </a:solidFill>
                <a:latin typeface="Arial"/>
              </a:defRPr>
            </a:pPr>
            <a:r>
              <a:t>Transcript records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93592" y="4800600"/>
            <a:ext cx="557784" cy="0"/>
          </a:xfrm>
          <a:prstGeom prst="line">
            <a:avLst/>
          </a:prstGeom>
          <a:ln w="21590">
            <a:solidFill>
              <a:srgbClr val="88A2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24528" y="4425696"/>
            <a:ext cx="3154680" cy="768096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34256" y="4498848"/>
            <a:ext cx="293522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73B4D"/>
                </a:solidFill>
                <a:latin typeface="Arial"/>
              </a:defRPr>
            </a:pPr>
            <a:r>
              <a:t>Grouped by perfume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70648" y="4800600"/>
            <a:ext cx="557783" cy="0"/>
          </a:xfrm>
          <a:prstGeom prst="line">
            <a:avLst/>
          </a:prstGeom>
          <a:ln w="21590">
            <a:solidFill>
              <a:srgbClr val="88A2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10727" y="4425696"/>
            <a:ext cx="3474720" cy="768096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0455" y="4498848"/>
            <a:ext cx="3255263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900" b="1">
                <a:solidFill>
                  <a:srgbClr val="173B4D"/>
                </a:solidFill>
                <a:latin typeface="Arial"/>
              </a:defRPr>
            </a:pPr>
            <a:r>
              <a:t>Emotion predictions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  <a:defRPr sz="1900" b="1">
                <a:solidFill>
                  <a:srgbClr val="173B4D"/>
                </a:solidFill>
                <a:latin typeface="Arial"/>
              </a:defRPr>
            </a:pPr>
            <a:r>
              <a:t>for each perfume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513832"/>
            <a:ext cx="11000232" cy="612648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" y="5577840"/>
            <a:ext cx="1056132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Perfumes can share source material, so the records are not necessarily independent.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REFERENCE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The reference labels follow a fixed annotation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§3.4; Niu et al. (2024), methodological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47672"/>
            <a:ext cx="534924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947672"/>
            <a:ext cx="50292" cy="3154680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148840"/>
            <a:ext cx="49286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Gemini 3.1 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880360"/>
            <a:ext cx="4928616" cy="2112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0">
                <a:solidFill>
                  <a:srgbClr val="173B4D"/>
                </a:solidFill>
                <a:latin typeface="Arial"/>
              </a:defRPr>
            </a:pPr>
            <a:r>
              <a:t>Assigned emotion labels from supplied review excerpts.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300" b="0">
                <a:solidFill>
                  <a:srgbClr val="173B4D"/>
                </a:solidFill>
                <a:latin typeface="Arial"/>
              </a:defRPr>
            </a:pPr>
            <a:endParaRPr/>
          </a:p>
          <a:p>
            <a:pPr algn="l">
              <a:lnSpc>
                <a:spcPct val="112000"/>
              </a:lnSpc>
              <a:spcAft>
                <a:spcPts val="500"/>
              </a:spcAft>
              <a:defRPr sz="2300" b="0">
                <a:solidFill>
                  <a:srgbClr val="173B4D"/>
                </a:solidFill>
                <a:latin typeface="Arial"/>
              </a:defRPr>
            </a:pPr>
            <a:r>
              <a:t>Fixed instructions and a consistent label 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947672"/>
            <a:ext cx="534924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5352" y="1947672"/>
            <a:ext cx="50292" cy="3154680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55664" y="2148840"/>
            <a:ext cx="49286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What the model saw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880360"/>
            <a:ext cx="4928616" cy="2112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0">
                <a:solidFill>
                  <a:srgbClr val="173B4D"/>
                </a:solidFill>
                <a:latin typeface="Arial"/>
              </a:defRPr>
            </a:pPr>
            <a:r>
              <a:t>One or two excerpts per perfume.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300" b="0">
                <a:solidFill>
                  <a:srgbClr val="173B4D"/>
                </a:solidFill>
                <a:latin typeface="Arial"/>
              </a:defRPr>
            </a:pPr>
            <a:endParaRPr/>
          </a:p>
          <a:p>
            <a:pPr algn="l">
              <a:lnSpc>
                <a:spcPct val="112000"/>
              </a:lnSpc>
              <a:spcAft>
                <a:spcPts val="500"/>
              </a:spcAft>
              <a:defRPr sz="2300" b="0">
                <a:solidFill>
                  <a:srgbClr val="173B4D"/>
                </a:solidFill>
                <a:latin typeface="Arial"/>
              </a:defRPr>
            </a:pPr>
            <a:r>
              <a:t>Maximum 360 characters per excerpt.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376672"/>
            <a:ext cx="11000232" cy="612648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5440680"/>
            <a:ext cx="1056132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Evaluation measures agreement with these model-generated reference labels.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6062472"/>
            <a:ext cx="10332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0">
                <a:solidFill>
                  <a:srgbClr val="5F727C"/>
                </a:solidFill>
                <a:latin typeface="Arial"/>
              </a:defRPr>
            </a:pPr>
            <a:r>
              <a:t>Independent human validation was not conducted.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ROLES IN 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The AI tools have four different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§§3.2.2 and 3.4–3.6.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09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920240"/>
          <a:ext cx="1100023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Role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Pretrained text models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Produce numerical input features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Gemini 3.1 Pro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Assign reference labels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Five supervised classifiers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Learn to predict the emotion labels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GPT-5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Generate additional review text for augmentation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513832"/>
            <a:ext cx="11000232" cy="612648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5577840"/>
            <a:ext cx="1056132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Feature generation, annotation, prediction and text generation are separate steps.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METHOD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Two routes lead to the same prediction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Simplified from thesis Figure 1; §§3.5–3.7.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52928"/>
            <a:ext cx="1865376" cy="1005840"/>
          </a:xfrm>
          <a:prstGeom prst="roundRect">
            <a:avLst>
              <a:gd name="adj" fmla="val 8000"/>
            </a:avLst>
          </a:prstGeom>
          <a:solidFill>
            <a:srgbClr val="17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926080"/>
            <a:ext cx="164592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Review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transcripts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514600" y="2505456"/>
            <a:ext cx="630936" cy="594360"/>
          </a:xfrm>
          <a:prstGeom prst="line">
            <a:avLst/>
          </a:prstGeom>
          <a:ln w="21590">
            <a:solidFill>
              <a:srgbClr val="88A2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514600" y="3602736"/>
            <a:ext cx="630936" cy="457200"/>
          </a:xfrm>
          <a:prstGeom prst="line">
            <a:avLst/>
          </a:prstGeom>
          <a:ln w="21590">
            <a:solidFill>
              <a:srgbClr val="88A2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18688" y="2020824"/>
            <a:ext cx="2450592" cy="1005840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28416" y="2093976"/>
            <a:ext cx="223113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73B4D"/>
                </a:solidFill>
                <a:latin typeface="Arial"/>
              </a:defRPr>
            </a:pPr>
            <a:r>
              <a:t>58 features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73B4D"/>
                </a:solidFill>
                <a:latin typeface="Arial"/>
              </a:defRPr>
            </a:pPr>
            <a:r>
              <a:t>per perfume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8688" y="3675887"/>
            <a:ext cx="2450592" cy="1005840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28416" y="3749039"/>
            <a:ext cx="2231136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73B4D"/>
                </a:solidFill>
                <a:latin typeface="Arial"/>
              </a:defRPr>
            </a:pPr>
            <a:r>
              <a:t>Transcript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73B4D"/>
                </a:solidFill>
                <a:latin typeface="Arial"/>
              </a:defRPr>
            </a:pPr>
            <a:r>
              <a:t>text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33288" y="2523744"/>
            <a:ext cx="411480" cy="0"/>
          </a:xfrm>
          <a:prstGeom prst="line">
            <a:avLst/>
          </a:prstGeom>
          <a:ln w="21590">
            <a:solidFill>
              <a:srgbClr val="88A2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33288" y="4178808"/>
            <a:ext cx="411480" cy="0"/>
          </a:xfrm>
          <a:prstGeom prst="line">
            <a:avLst/>
          </a:prstGeom>
          <a:ln w="21590">
            <a:solidFill>
              <a:srgbClr val="88A2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17920" y="2020824"/>
            <a:ext cx="2258568" cy="1005840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7648" y="2093976"/>
            <a:ext cx="2039112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73B4D"/>
                </a:solidFill>
                <a:latin typeface="Arial"/>
              </a:defRPr>
            </a:pPr>
            <a:r>
              <a:t>Three feature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73B4D"/>
                </a:solidFill>
                <a:latin typeface="Arial"/>
              </a:defRPr>
            </a:pPr>
            <a:r>
              <a:t>classifiers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75887"/>
            <a:ext cx="2258568" cy="1005840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7648" y="3749039"/>
            <a:ext cx="2039112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73B4D"/>
                </a:solidFill>
                <a:latin typeface="Arial"/>
              </a:defRPr>
            </a:pPr>
            <a:r>
              <a:t>Two text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73B4D"/>
                </a:solidFill>
                <a:latin typeface="Arial"/>
              </a:defRPr>
            </a:pPr>
            <a:r>
              <a:t>classifiers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40496" y="2514600"/>
            <a:ext cx="438912" cy="576072"/>
          </a:xfrm>
          <a:prstGeom prst="line">
            <a:avLst/>
          </a:prstGeom>
          <a:ln w="21590">
            <a:solidFill>
              <a:srgbClr val="88A2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540496" y="3602736"/>
            <a:ext cx="438912" cy="566927"/>
          </a:xfrm>
          <a:prstGeom prst="line">
            <a:avLst/>
          </a:prstGeom>
          <a:ln w="21590">
            <a:solidFill>
              <a:srgbClr val="88A2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61704" y="2798064"/>
            <a:ext cx="2532888" cy="1124712"/>
          </a:xfrm>
          <a:prstGeom prst="roundRect">
            <a:avLst>
              <a:gd name="adj" fmla="val 8000"/>
            </a:avLst>
          </a:prstGeom>
          <a:solidFill>
            <a:srgbClr val="17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71432" y="2871216"/>
            <a:ext cx="2313432" cy="9784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Separate predictions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from each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0264" y="4169663"/>
            <a:ext cx="26700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900" b="1">
                <a:solidFill>
                  <a:srgbClr val="14818B"/>
                </a:solidFill>
                <a:latin typeface="Arial"/>
              </a:defRPr>
            </a:pPr>
            <a:r>
              <a:t>Evaluate against held-out reference labels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513832"/>
            <a:ext cx="11000232" cy="612648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" y="5577840"/>
            <a:ext cx="1056132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0">
                <a:solidFill>
                  <a:srgbClr val="173B4D"/>
                </a:solidFill>
                <a:latin typeface="Arial"/>
              </a:defRPr>
            </a:pPr>
            <a:r>
              <a:t>Reference labels are training targets. Held-out predictions use only model inputs.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What do the 58 features describe?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§3.5; Table 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920240"/>
          <a:ext cx="11000232" cy="3517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2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 family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Count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Meaning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Emotion and sentiment word counts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Vocabulary associated with emotions and sentiment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Affect dimensions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Pleasantness, activation and control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Pretrained model scores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45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Signals from existing text classifiers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58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One numerical representation per perfume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513832"/>
            <a:ext cx="11000232" cy="612648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5577840"/>
            <a:ext cx="1056132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The representation combines dictionary evidence with contextual model outputs.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Five models, grouped by their inputs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§3.6; Table 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20240"/>
            <a:ext cx="5349240" cy="2898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50292" cy="289864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121408"/>
            <a:ext cx="49286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58 structured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852928"/>
            <a:ext cx="4928616" cy="1856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600" b="0">
                <a:solidFill>
                  <a:srgbClr val="173B4D"/>
                </a:solidFill>
                <a:latin typeface="Arial"/>
              </a:defRPr>
            </a:pPr>
            <a:r>
              <a:t>Logistic Regression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600" b="0">
                <a:solidFill>
                  <a:srgbClr val="173B4D"/>
                </a:solidFill>
                <a:latin typeface="Arial"/>
              </a:defRPr>
            </a:pPr>
            <a:r>
              <a:t>XGBoost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600" b="0">
                <a:solidFill>
                  <a:srgbClr val="173B4D"/>
                </a:solidFill>
                <a:latin typeface="Arial"/>
              </a:defRPr>
            </a:pPr>
            <a:r>
              <a:t>Random Forest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920240"/>
            <a:ext cx="5349240" cy="2898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5352" y="1920240"/>
            <a:ext cx="50292" cy="289864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55664" y="2121408"/>
            <a:ext cx="49286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Review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852928"/>
            <a:ext cx="4928616" cy="1856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600" b="0">
                <a:solidFill>
                  <a:srgbClr val="173B4D"/>
                </a:solidFill>
                <a:latin typeface="Arial"/>
              </a:defRPr>
            </a:pPr>
            <a:r>
              <a:t>BERT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600" b="0">
                <a:solidFill>
                  <a:srgbClr val="173B4D"/>
                </a:solidFill>
                <a:latin typeface="Arial"/>
              </a:defRPr>
            </a:pPr>
            <a:r>
              <a:t>BiLSTM with Attention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983480"/>
            <a:ext cx="4983480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0">
                <a:solidFill>
                  <a:srgbClr val="173B4D"/>
                </a:solidFill>
                <a:latin typeface="Arial"/>
              </a:defRPr>
            </a:pPr>
            <a:r>
              <a:t>Learn from the 58-value representation.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983480"/>
            <a:ext cx="4956048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0">
                <a:solidFill>
                  <a:srgbClr val="173B4D"/>
                </a:solidFill>
                <a:latin typeface="Arial"/>
              </a:defRPr>
            </a:pPr>
            <a:r>
              <a:t>Learn from transcripts; combine predictions at perfume level.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678424"/>
            <a:ext cx="11000232" cy="493776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5742432"/>
            <a:ext cx="105613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0">
                <a:solidFill>
                  <a:srgbClr val="173B4D"/>
                </a:solidFill>
                <a:latin typeface="Arial"/>
              </a:defRPr>
            </a:pPr>
            <a:r>
              <a:t>The comparison covers complete approaches, including their different inputs.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Performance is measured on held-out perfumes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§§3.7 and 4.1.1.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02536"/>
            <a:ext cx="2907792" cy="960120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075688"/>
            <a:ext cx="2688336" cy="8138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173B4D"/>
                </a:solidFill>
                <a:latin typeface="Arial"/>
              </a:defRPr>
            </a:pPr>
            <a:r>
              <a:t>Training inputs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173B4D"/>
                </a:solidFill>
                <a:latin typeface="Arial"/>
              </a:defRPr>
            </a:pPr>
            <a:r>
              <a:t>and reference labels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465576"/>
            <a:ext cx="2907792" cy="960120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3538728"/>
            <a:ext cx="2688336" cy="8138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173B4D"/>
                </a:solidFill>
                <a:latin typeface="Arial"/>
              </a:defRPr>
            </a:pPr>
            <a:r>
              <a:t>Validation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5" y="2267712"/>
            <a:ext cx="2377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800" b="0">
                <a:solidFill>
                  <a:srgbClr val="5F727C"/>
                </a:solidFill>
                <a:latin typeface="Arial"/>
              </a:defRPr>
            </a:pPr>
            <a:r>
              <a:t>Learn parameters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5615" y="4050791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800" b="0">
                <a:solidFill>
                  <a:srgbClr val="5F727C"/>
                </a:solidFill>
                <a:latin typeface="Arial"/>
              </a:defRPr>
            </a:pPr>
            <a:r>
              <a:t>Guide training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  <a:defRPr sz="1800" b="0">
                <a:solidFill>
                  <a:srgbClr val="5F727C"/>
                </a:solidFill>
                <a:latin typeface="Arial"/>
              </a:defRPr>
            </a:pPr>
            <a:r>
              <a:t>decisions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75304" y="2487168"/>
            <a:ext cx="2825496" cy="420624"/>
          </a:xfrm>
          <a:prstGeom prst="line">
            <a:avLst/>
          </a:prstGeom>
          <a:ln w="21590">
            <a:solidFill>
              <a:srgbClr val="88A2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575304" y="3346704"/>
            <a:ext cx="2825496" cy="594359"/>
          </a:xfrm>
          <a:prstGeom prst="line">
            <a:avLst/>
          </a:prstGeom>
          <a:ln w="21590">
            <a:solidFill>
              <a:srgbClr val="88A2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83096" y="2688336"/>
            <a:ext cx="2093976" cy="914400"/>
          </a:xfrm>
          <a:prstGeom prst="roundRect">
            <a:avLst>
              <a:gd name="adj" fmla="val 8000"/>
            </a:avLst>
          </a:prstGeom>
          <a:solidFill>
            <a:srgbClr val="17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92824" y="2761488"/>
            <a:ext cx="1874519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Trained model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59368" y="3136392"/>
            <a:ext cx="484632" cy="0"/>
          </a:xfrm>
          <a:prstGeom prst="line">
            <a:avLst/>
          </a:prstGeom>
          <a:ln w="21590">
            <a:solidFill>
              <a:srgbClr val="88A2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35440" y="2688336"/>
            <a:ext cx="2350008" cy="914400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45167" y="2761488"/>
            <a:ext cx="2130552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173B4D"/>
                </a:solidFill>
                <a:latin typeface="Arial"/>
              </a:defRPr>
            </a:pPr>
            <a:r>
              <a:t>Predict test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173B4D"/>
                </a:solidFill>
                <a:latin typeface="Arial"/>
              </a:defRPr>
            </a:pPr>
            <a:r>
              <a:t>perfumes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478231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0">
                <a:solidFill>
                  <a:srgbClr val="173B4D"/>
                </a:solidFill>
                <a:latin typeface="Arial"/>
              </a:defRPr>
            </a:pPr>
            <a:r>
              <a:t>Five outer folds share the same splits. Each perfume is held out for its prediction.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513832"/>
            <a:ext cx="11000232" cy="612648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5577840"/>
            <a:ext cx="1056132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Test data do not guide training. Emotion labels use a fixed 0.30 probability cutoff.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EVALUATION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Shared sources stay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§3.7; Table 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29968"/>
            <a:ext cx="2404872" cy="786384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103120"/>
            <a:ext cx="218541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73B4D"/>
                </a:solidFill>
                <a:latin typeface="Arial"/>
              </a:defRPr>
            </a:pPr>
            <a:r>
              <a:t>Perfume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005072"/>
            <a:ext cx="2404872" cy="786384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4078224"/>
            <a:ext cx="218541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73B4D"/>
                </a:solidFill>
                <a:latin typeface="Arial"/>
              </a:defRPr>
            </a:pPr>
            <a:r>
              <a:t>Perfume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59352" y="3008376"/>
            <a:ext cx="3337560" cy="822960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69080" y="3081528"/>
            <a:ext cx="311810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73B4D"/>
                </a:solidFill>
                <a:latin typeface="Arial"/>
              </a:defRPr>
            </a:pPr>
            <a:r>
              <a:t>Shared video or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73B4D"/>
                </a:solidFill>
                <a:latin typeface="Arial"/>
              </a:defRPr>
            </a:pPr>
            <a:r>
              <a:t>identical full transcript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63240" y="2414016"/>
            <a:ext cx="822960" cy="832104"/>
          </a:xfrm>
          <a:prstGeom prst="line">
            <a:avLst/>
          </a:prstGeom>
          <a:ln w="21590">
            <a:solidFill>
              <a:srgbClr val="88A2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063240" y="3566160"/>
            <a:ext cx="822960" cy="804672"/>
          </a:xfrm>
          <a:prstGeom prst="line">
            <a:avLst/>
          </a:prstGeom>
          <a:ln w="21590">
            <a:solidFill>
              <a:srgbClr val="88A2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70064" y="3410712"/>
            <a:ext cx="722376" cy="0"/>
          </a:xfrm>
          <a:prstGeom prst="line">
            <a:avLst/>
          </a:prstGeom>
          <a:ln w="21590">
            <a:solidFill>
              <a:srgbClr val="88A2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74736" y="2788920"/>
            <a:ext cx="3410712" cy="1225296"/>
          </a:xfrm>
          <a:prstGeom prst="roundRect">
            <a:avLst>
              <a:gd name="adj" fmla="val 8000"/>
            </a:avLst>
          </a:prstGeom>
          <a:solidFill>
            <a:srgbClr val="17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4463" y="2862072"/>
            <a:ext cx="3191256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Same connected group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Same evaluation fold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8496" y="1956816"/>
            <a:ext cx="5303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300" b="1">
                <a:solidFill>
                  <a:srgbClr val="14818B"/>
                </a:solidFill>
                <a:latin typeface="Arial"/>
              </a:defRPr>
            </a:pPr>
            <a:r>
              <a:t>359 source groups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84064"/>
            <a:ext cx="10972800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173B4D"/>
                </a:solidFill>
                <a:latin typeface="Arial"/>
              </a:defRPr>
            </a:pPr>
            <a:r>
              <a:t>Shared videos and identical transcripts cannot cross training and test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43016"/>
            <a:ext cx="1092708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0">
                <a:solidFill>
                  <a:srgbClr val="5F727C"/>
                </a:solidFill>
                <a:latin typeface="Arial"/>
              </a:defRPr>
            </a:pPr>
            <a:r>
              <a:t>Groups differ in size; supplementary analyses give each source group equal weight.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READING THE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Different scores answer different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§4.1.3; Saito &amp; Rehmsmeier (2015).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920240"/>
          <a:ext cx="1100023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Question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Macro Average Precision (AP)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Are perfumes with the reference emotion ranked near the top?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Macro F1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How well do final labels balance missed emotions and false alarms?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Macro ROC-AUC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How often do reference positives rank above reference negatives?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" y="5513832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0">
                <a:solidFill>
                  <a:srgbClr val="173B4D"/>
                </a:solidFill>
                <a:latin typeface="Arial"/>
              </a:defRPr>
            </a:pPr>
            <a:r>
              <a:t>AP evaluates ranking; F1 evaluates labels at the fixed cutoff. ROC-AUC is supplementary.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108192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1">
                <a:solidFill>
                  <a:srgbClr val="14818B"/>
                </a:solidFill>
                <a:latin typeface="Arial"/>
              </a:defRPr>
            </a:pPr>
            <a:r>
              <a:t>“Macro” gives each emotion equal weight. These scores are not percentages correct.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A real example connects the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§3.9; Table 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500" b="1">
                <a:solidFill>
                  <a:srgbClr val="14818B"/>
                </a:solidFill>
                <a:latin typeface="Arial"/>
              </a:defRPr>
            </a:pPr>
            <a:r>
              <a:t>Vetiver Nocturne Absolu Extrait de Parfum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32304"/>
            <a:ext cx="4599432" cy="2112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642616"/>
            <a:ext cx="4105656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400" b="1">
                <a:solidFill>
                  <a:srgbClr val="173B4D"/>
                </a:solidFill>
                <a:latin typeface="Arial"/>
              </a:defRPr>
            </a:pPr>
            <a:r>
              <a:t>“slightly sweet medicinal herbs”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648456"/>
            <a:ext cx="4096512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“Sweet” contributes to dictionary emotion counts.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773168"/>
            <a:ext cx="1289304" cy="649224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4846320"/>
            <a:ext cx="1069848" cy="5029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500" b="1">
                <a:solidFill>
                  <a:srgbClr val="173B4D"/>
                </a:solidFill>
                <a:latin typeface="Arial"/>
              </a:defRPr>
            </a:pPr>
            <a:r>
              <a:t>10 transcripts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38528" y="5093208"/>
            <a:ext cx="301752" cy="0"/>
          </a:xfrm>
          <a:prstGeom prst="line">
            <a:avLst/>
          </a:prstGeom>
          <a:ln w="21590">
            <a:solidFill>
              <a:srgbClr val="88A2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295144" y="4773168"/>
            <a:ext cx="1225296" cy="649224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04872" y="4846320"/>
            <a:ext cx="1005840" cy="5029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600" b="1">
                <a:solidFill>
                  <a:srgbClr val="173B4D"/>
                </a:solidFill>
                <a:latin typeface="Arial"/>
              </a:defRPr>
            </a:pPr>
            <a:r>
              <a:t>58 features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75304" y="5093208"/>
            <a:ext cx="301752" cy="0"/>
          </a:xfrm>
          <a:prstGeom prst="line">
            <a:avLst/>
          </a:prstGeom>
          <a:ln w="21590">
            <a:solidFill>
              <a:srgbClr val="88A2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941063" y="4773168"/>
            <a:ext cx="1243584" cy="649224"/>
          </a:xfrm>
          <a:prstGeom prst="roundRect">
            <a:avLst>
              <a:gd name="adj" fmla="val 8000"/>
            </a:avLst>
          </a:prstGeom>
          <a:solidFill>
            <a:srgbClr val="17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50791" y="4846320"/>
            <a:ext cx="1024128" cy="5029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Logistic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Regression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550408" y="2441448"/>
          <a:ext cx="60350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5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Emotion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Score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 0.30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Joy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0.674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Present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Trust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0.604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Present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Anticipation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0.603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Present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577840" y="5010912"/>
            <a:ext cx="59527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0">
                <a:solidFill>
                  <a:srgbClr val="173B4D"/>
                </a:solidFill>
                <a:latin typeface="Arial"/>
              </a:defRPr>
            </a:pPr>
            <a:r>
              <a:t>Other four scores are below the cutoff.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00" b="0">
                <a:solidFill>
                  <a:srgbClr val="173B4D"/>
                </a:solidFill>
                <a:latin typeface="Arial"/>
              </a:defRPr>
            </a:pPr>
            <a:r>
              <a:t>The result matches the reference labels.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742432"/>
            <a:ext cx="11000232" cy="493776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5806440"/>
            <a:ext cx="105613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00" b="0">
                <a:solidFill>
                  <a:srgbClr val="173B4D"/>
                </a:solidFill>
                <a:latin typeface="Arial"/>
              </a:defRPr>
            </a:pPr>
            <a:r>
              <a:t>The excerpt illustrates one feature step; prediction uses the full perfume-level representation.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NATURAL-DATA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BERT has the highest observed Macro 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YouTube-only training; pooled out-of-fold predictions. Thesis Tables 9 and 10.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83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700" b="0">
                <a:solidFill>
                  <a:srgbClr val="5F727C"/>
                </a:solidFill>
                <a:latin typeface="Arial"/>
              </a:defRPr>
            </a:pPr>
            <a:r>
              <a:t>Macro Average Precision  ·  Higher is better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2194560"/>
          <a:ext cx="10515600" cy="3044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94360" y="5513832"/>
            <a:ext cx="11000232" cy="612648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5577840"/>
            <a:ext cx="1056132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BERT: 0.3590 Macro AP. All five models use the same 784 held-out perfumes.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INTERPRETING MODEL COMPARISONS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The leading model depends on the metric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Tables 9 and 10; §4.4.2.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920240"/>
          <a:ext cx="1100023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2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Highest pooled result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Score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4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Macro F1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4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BERT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4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0.4029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4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Macro AP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4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BERT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4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0.3590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4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Macro ROC-AUC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4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XGBoost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4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0.5683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919472"/>
            <a:ext cx="108813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0">
                <a:solidFill>
                  <a:srgbClr val="173B4D"/>
                </a:solidFill>
                <a:latin typeface="Arial"/>
              </a:defRPr>
            </a:pPr>
            <a:r>
              <a:t>With equal source-group weighting, paired F1 comparisons do not clearly separate the models.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715000"/>
            <a:ext cx="11000232" cy="493776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5779008"/>
            <a:ext cx="105613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173B4D"/>
                </a:solidFill>
                <a:latin typeface="Arial"/>
              </a:defRPr>
            </a:pPr>
            <a:r>
              <a:t>The evidence does not establish one overall best model.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CLASS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Emotion frequencies shape the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Table 14; §4.6.1. Counts are perfume-level reference positives.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19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13232" y="1856231"/>
          <a:ext cx="7351775" cy="3410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75904" y="1947672"/>
            <a:ext cx="3209544" cy="3474720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13648" y="2212848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4200" b="1">
                <a:solidFill>
                  <a:srgbClr val="14818B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2944368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73B4D"/>
                </a:solidFill>
                <a:latin typeface="Arial"/>
              </a:defRPr>
            </a:pPr>
            <a:r>
              <a:t>positive cases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73B4D"/>
                </a:solidFill>
                <a:latin typeface="Arial"/>
              </a:defRPr>
            </a:pPr>
            <a:r>
              <a:t>for Fear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4224528"/>
            <a:ext cx="2743200" cy="978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0">
                <a:solidFill>
                  <a:srgbClr val="173B4D"/>
                </a:solidFill>
                <a:latin typeface="Arial"/>
              </a:defRPr>
            </a:pPr>
            <a:r>
              <a:t>BERT’s F1 of 0.5000 reflects one correct detection.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513832"/>
            <a:ext cx="11000232" cy="612648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5577840"/>
            <a:ext cx="1056132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0">
                <a:solidFill>
                  <a:srgbClr val="173B4D"/>
                </a:solidFill>
                <a:latin typeface="Arial"/>
              </a:defRPr>
            </a:pPr>
            <a:r>
              <a:t>Joy, Trust and Anticipation dominate; rare-emotion scores depend on very few cases.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INTERPRETING MODEL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Prediction behaviour helps explain F1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Tables 13–15. BERT, YouTube-only training, cutoff 0.30.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920240"/>
          <a:ext cx="11000232" cy="2773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Emotion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Reference positives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Predicted positives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F1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Joy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622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784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0.8848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Trust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476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784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0.7556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Anticipation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366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784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0.6365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901184"/>
            <a:ext cx="108813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400" b="1">
                <a:solidFill>
                  <a:srgbClr val="14818B"/>
                </a:solidFill>
                <a:latin typeface="Arial"/>
              </a:defRPr>
            </a:pPr>
            <a:r>
              <a:t>BERT predicts all three emotions for every perfume at the official cutoff.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504688"/>
            <a:ext cx="11000232" cy="493776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5568696"/>
            <a:ext cx="105613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173B4D"/>
                </a:solidFill>
                <a:latin typeface="Arial"/>
              </a:defRPr>
            </a:pPr>
            <a:r>
              <a:t>Interpret F1 alongside label frequency and prediction behaviour.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608076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5F727C"/>
                </a:solidFill>
                <a:latin typeface="Arial"/>
              </a:defRPr>
            </a:pPr>
            <a:r>
              <a:t>Changing the cutoff changes F1; AP and ROC-AUC remain unchanged for the same probabilities.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REPRESENTATION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Feature combinations affect models differently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§4.5.1; Table 12. Results use the tested fixed model settings.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56231"/>
            <a:ext cx="10972800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0">
                <a:solidFill>
                  <a:srgbClr val="173B4D"/>
                </a:solidFill>
                <a:latin typeface="Arial"/>
              </a:defRPr>
            </a:pPr>
            <a:r>
              <a:t>Seven feature combinations were tested across the three feature-based classifiers.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2697480"/>
          <a:ext cx="11000231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5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4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Classifier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Observed pattern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Logistic Regression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F1 changes little across feature combinations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XGBoost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Word counts + affect dimensions: F1 0.3797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Full 58-feature representation: F1 0.3260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Random Forest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The full representation has the highest observed pooled scores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94360" y="5742432"/>
            <a:ext cx="11000232" cy="493776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5806440"/>
            <a:ext cx="105613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The benefit of a feature family depends on the classifier.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SYNTHETIC AUGMENTATION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Generated reviews test an additional training-data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§3.2.2.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95144"/>
            <a:ext cx="2459736" cy="1234440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368296"/>
            <a:ext cx="2240280" cy="10881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73B4D"/>
                </a:solidFill>
                <a:latin typeface="Arial"/>
              </a:defRPr>
            </a:pPr>
            <a:r>
              <a:t>Sensory keywords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73B4D"/>
                </a:solidFill>
                <a:latin typeface="Arial"/>
              </a:defRPr>
            </a:pPr>
            <a:r>
              <a:t>+ templates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2907792"/>
            <a:ext cx="265176" cy="0"/>
          </a:xfrm>
          <a:prstGeom prst="line">
            <a:avLst/>
          </a:prstGeom>
          <a:ln w="21590">
            <a:solidFill>
              <a:srgbClr val="88A2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38144" y="2295144"/>
            <a:ext cx="2459736" cy="1234440"/>
          </a:xfrm>
          <a:prstGeom prst="roundRect">
            <a:avLst>
              <a:gd name="adj" fmla="val 8000"/>
            </a:avLst>
          </a:prstGeom>
          <a:solidFill>
            <a:srgbClr val="FB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2" y="2368296"/>
            <a:ext cx="2240280" cy="10881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73B4D"/>
                </a:solidFill>
                <a:latin typeface="Arial"/>
              </a:defRPr>
            </a:pPr>
            <a:r>
              <a:t>GPT-5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73B4D"/>
                </a:solidFill>
                <a:latin typeface="Arial"/>
              </a:defRPr>
            </a:pPr>
            <a:r>
              <a:t>review text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52744" y="2907792"/>
            <a:ext cx="265176" cy="0"/>
          </a:xfrm>
          <a:prstGeom prst="line">
            <a:avLst/>
          </a:prstGeom>
          <a:ln w="21590">
            <a:solidFill>
              <a:srgbClr val="88A2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81928" y="2295144"/>
            <a:ext cx="2459736" cy="1234440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1656" y="2368296"/>
            <a:ext cx="2240280" cy="10881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73B4D"/>
                </a:solidFill>
                <a:latin typeface="Arial"/>
              </a:defRPr>
            </a:pPr>
            <a:r>
              <a:t>Gemini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73B4D"/>
                </a:solidFill>
                <a:latin typeface="Arial"/>
              </a:defRPr>
            </a:pPr>
            <a:r>
              <a:t>emotion labels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96528" y="2907792"/>
            <a:ext cx="265176" cy="0"/>
          </a:xfrm>
          <a:prstGeom prst="line">
            <a:avLst/>
          </a:prstGeom>
          <a:ln w="21590">
            <a:solidFill>
              <a:srgbClr val="88A2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25712" y="2295144"/>
            <a:ext cx="2459736" cy="1234440"/>
          </a:xfrm>
          <a:prstGeom prst="roundRect">
            <a:avLst>
              <a:gd name="adj" fmla="val 8000"/>
            </a:avLst>
          </a:prstGeom>
          <a:solidFill>
            <a:srgbClr val="17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0" y="2368296"/>
            <a:ext cx="2240280" cy="10881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Additional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training 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50791"/>
            <a:ext cx="3191256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4300" b="1">
                <a:solidFill>
                  <a:srgbClr val="CC7520"/>
                </a:solidFill>
                <a:latin typeface="Arial"/>
              </a:defRPr>
            </a:pPr>
            <a:r>
              <a:t>2,352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912" y="4059936"/>
            <a:ext cx="758952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400" b="0">
                <a:solidFill>
                  <a:srgbClr val="173B4D"/>
                </a:solidFill>
                <a:latin typeface="Arial"/>
              </a:defRPr>
            </a:pPr>
            <a:r>
              <a:t>reviews in the primary corpus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400" b="0">
                <a:solidFill>
                  <a:srgbClr val="173B4D"/>
                </a:solidFill>
                <a:latin typeface="Arial"/>
              </a:defRPr>
            </a:pPr>
            <a:r>
              <a:t>Three generated reviews per perfume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513832"/>
            <a:ext cx="11000232" cy="612648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8" y="5577840"/>
            <a:ext cx="1056132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173B4D"/>
                </a:solidFill>
                <a:latin typeface="Arial"/>
              </a:defRPr>
            </a:pPr>
            <a:r>
              <a:t>Existing target emotion labels and VAD values were not supplied to GPT-5.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CONTROLLED AUGMENTATION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Both training conditions face the same natural test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§§3.8 and 4.1.1. Base weighting is before model-specific class weighting.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20240"/>
            <a:ext cx="3346704" cy="841248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993392"/>
            <a:ext cx="3127248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200" b="1">
                <a:solidFill>
                  <a:srgbClr val="173B4D"/>
                </a:solidFill>
                <a:latin typeface="Arial"/>
              </a:defRPr>
            </a:pPr>
            <a:r>
              <a:t>Natural training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291840"/>
            <a:ext cx="3346704" cy="1033271"/>
          </a:xfrm>
          <a:prstGeom prst="roundRect">
            <a:avLst>
              <a:gd name="adj" fmla="val 8000"/>
            </a:avLst>
          </a:prstGeom>
          <a:solidFill>
            <a:srgbClr val="FB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3364992"/>
            <a:ext cx="3127248" cy="8869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200" b="1">
                <a:solidFill>
                  <a:srgbClr val="173B4D"/>
                </a:solidFill>
                <a:latin typeface="Arial"/>
              </a:defRPr>
            </a:pPr>
            <a:r>
              <a:t>Natural + permitted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  <a:defRPr sz="2200" b="1">
                <a:solidFill>
                  <a:srgbClr val="173B4D"/>
                </a:solidFill>
                <a:latin typeface="Arial"/>
              </a:defRPr>
            </a:pPr>
            <a:r>
              <a:t>synthetic reviews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14215" y="2340864"/>
            <a:ext cx="566929" cy="0"/>
          </a:xfrm>
          <a:prstGeom prst="line">
            <a:avLst/>
          </a:prstGeom>
          <a:ln w="21590">
            <a:solidFill>
              <a:srgbClr val="88A2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014215" y="3803904"/>
            <a:ext cx="566929" cy="0"/>
          </a:xfrm>
          <a:prstGeom prst="line">
            <a:avLst/>
          </a:prstGeom>
          <a:ln w="21590">
            <a:solidFill>
              <a:srgbClr val="88A2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63440" y="1920240"/>
            <a:ext cx="2788920" cy="841248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993392"/>
            <a:ext cx="2569463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173B4D"/>
                </a:solidFill>
                <a:latin typeface="Arial"/>
              </a:defRPr>
            </a:pPr>
            <a:r>
              <a:t>Natural-only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291840"/>
            <a:ext cx="2788920" cy="1033271"/>
          </a:xfrm>
          <a:prstGeom prst="roundRect">
            <a:avLst>
              <a:gd name="adj" fmla="val 8000"/>
            </a:avLst>
          </a:prstGeom>
          <a:solidFill>
            <a:srgbClr val="FB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73168" y="3364992"/>
            <a:ext cx="2569463" cy="8869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173B4D"/>
                </a:solidFill>
                <a:latin typeface="Arial"/>
              </a:defRPr>
            </a:pPr>
            <a:r>
              <a:t>Augmented model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34656" y="2359152"/>
            <a:ext cx="740664" cy="502920"/>
          </a:xfrm>
          <a:prstGeom prst="line">
            <a:avLst/>
          </a:prstGeom>
          <a:ln w="21590">
            <a:solidFill>
              <a:srgbClr val="88A2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34656" y="3374136"/>
            <a:ext cx="740664" cy="429768"/>
          </a:xfrm>
          <a:prstGeom prst="line">
            <a:avLst/>
          </a:prstGeom>
          <a:ln w="21590">
            <a:solidFill>
              <a:srgbClr val="88A2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366760" y="2596896"/>
            <a:ext cx="3218688" cy="1197864"/>
          </a:xfrm>
          <a:prstGeom prst="roundRect">
            <a:avLst>
              <a:gd name="adj" fmla="val 8000"/>
            </a:avLst>
          </a:prstGeom>
          <a:solidFill>
            <a:srgbClr val="17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76488" y="2670048"/>
            <a:ext cx="2999232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Same held-out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natural test perfumes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360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173B4D"/>
                </a:solidFill>
                <a:latin typeface="Arial"/>
              </a:defRPr>
            </a:pPr>
            <a:r>
              <a:t>Per training perfume: natural records have total base weight 1;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173B4D"/>
                </a:solidFill>
                <a:latin typeface="Arial"/>
              </a:defRPr>
            </a:pPr>
            <a:r>
              <a:t>the three synthetic reviews together also have total base weight 1.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513832"/>
            <a:ext cx="11000232" cy="612648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" y="5577840"/>
            <a:ext cx="1056132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0">
                <a:solidFill>
                  <a:srgbClr val="173B4D"/>
                </a:solidFill>
                <a:latin typeface="Arial"/>
              </a:defRPr>
            </a:pPr>
            <a:r>
              <a:t>Same folds, settings and cutoff. No synthetic reviews from validation or test perfumes.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AUGMENTATION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Augmentation produces mixed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Tables 9 and 10. Pooled out-of-fold Macro AP on the same natural test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73936"/>
            <a:ext cx="100584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700" b="0">
                <a:solidFill>
                  <a:srgbClr val="5F727C"/>
                </a:solidFill>
                <a:latin typeface="Arial"/>
              </a:defRPr>
            </a:pPr>
            <a:r>
              <a:t>Macro Average Precision  ·  Natural-only vs. weighted augmented training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2185416"/>
          <a:ext cx="10515600" cy="3319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94360" y="5733288"/>
            <a:ext cx="11000232" cy="493776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5797296"/>
            <a:ext cx="105613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0">
                <a:solidFill>
                  <a:srgbClr val="173B4D"/>
                </a:solidFill>
                <a:latin typeface="Arial"/>
              </a:defRPr>
            </a:pPr>
            <a:r>
              <a:t>Logistic Regression improves; Random Forest and BERT decline. Other changes are small.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STRENGTH OF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The evidence does not establish a general augmentation benefit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§4.4.3; Table 11. Paired source-group bootstrap intervals.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11680"/>
            <a:ext cx="5349240" cy="3044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2011680"/>
            <a:ext cx="50292" cy="3044952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212848"/>
            <a:ext cx="49286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Changes depend on the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944368"/>
            <a:ext cx="4928616" cy="2002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400" b="0">
                <a:solidFill>
                  <a:srgbClr val="173B4D"/>
                </a:solidFill>
                <a:latin typeface="Arial"/>
              </a:defRPr>
            </a:pPr>
            <a:r>
              <a:t>The direction and size of changes differ across models and metrics.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2011680"/>
            <a:ext cx="5349240" cy="3044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5352" y="2011680"/>
            <a:ext cx="50292" cy="3044952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55664" y="2212848"/>
            <a:ext cx="49286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Uncertainty remains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944368"/>
            <a:ext cx="4928616" cy="2002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0">
                <a:solidFill>
                  <a:srgbClr val="173B4D"/>
                </a:solidFill>
                <a:latin typeface="Arial"/>
              </a:defRPr>
            </a:pPr>
            <a:r>
              <a:t>Under equal source-group weighting, all five 95% intervals for seven-label Macro AP change include zero.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266944"/>
            <a:ext cx="10789920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5F727C"/>
                </a:solidFill>
                <a:latin typeface="Arial"/>
              </a:defRPr>
            </a:pPr>
            <a:r>
              <a:t>This experiment does not isolate why the models respond differently.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742432"/>
            <a:ext cx="11000232" cy="493776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5806440"/>
            <a:ext cx="105613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0">
                <a:solidFill>
                  <a:srgbClr val="173B4D"/>
                </a:solidFill>
                <a:latin typeface="Arial"/>
              </a:defRPr>
            </a:pPr>
            <a:r>
              <a:t>Generated text needs validation on natural reviews before it can be assumed beneficial.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Answers to the research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§6.2.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47088"/>
            <a:ext cx="1024128" cy="1133856"/>
          </a:xfrm>
          <a:prstGeom prst="roundRect">
            <a:avLst>
              <a:gd name="adj" fmla="val 8000"/>
            </a:avLst>
          </a:prstGeom>
          <a:solidFill>
            <a:srgbClr val="17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920240"/>
            <a:ext cx="804672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847088"/>
            <a:ext cx="9555480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Representation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2267712"/>
            <a:ext cx="955548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173B4D"/>
                </a:solidFill>
                <a:latin typeface="Arial"/>
              </a:defRPr>
            </a:pPr>
            <a:r>
              <a:t>58 features combine word counts, affect dimensions and contextual scores. Their effects depend on the classifier.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264408"/>
            <a:ext cx="1024128" cy="1133856"/>
          </a:xfrm>
          <a:prstGeom prst="roundRect">
            <a:avLst>
              <a:gd name="adj" fmla="val 8000"/>
            </a:avLst>
          </a:prstGeom>
          <a:solidFill>
            <a:srgbClr val="17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3337560"/>
            <a:ext cx="804672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RQ2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3264408"/>
            <a:ext cx="9555480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Model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3685032"/>
            <a:ext cx="955548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173B4D"/>
                </a:solidFill>
                <a:latin typeface="Arial"/>
              </a:defRPr>
            </a:pPr>
            <a:r>
              <a:t>BERT leads pooled F1 and AP; XGBoost leads ROC-AUC. The evidence does not establish an overall best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681728"/>
            <a:ext cx="1024128" cy="1133856"/>
          </a:xfrm>
          <a:prstGeom prst="roundRect">
            <a:avLst>
              <a:gd name="adj" fmla="val 8000"/>
            </a:avLst>
          </a:prstGeom>
          <a:solidFill>
            <a:srgbClr val="17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" y="4754880"/>
            <a:ext cx="804672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RQ3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4681728"/>
            <a:ext cx="9555480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Synthetic augmentation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5102352"/>
            <a:ext cx="955548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173B4D"/>
                </a:solidFill>
                <a:latin typeface="Arial"/>
              </a:defRPr>
            </a:pPr>
            <a:r>
              <a:t>Weighted augmentation produces model- and metric-dependent changes, without a consistent general benefit.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The scope of the 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§5.6.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920240"/>
          <a:ext cx="11000232" cy="3054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Boundary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it means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3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Model-generated reference labels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3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Agreement with human judgments is not established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3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English YouTube transcripts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3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Findings are specific to this review setting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3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Shared sources and rare emotions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3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Independence and estimation precision are limited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9224" y="5138928"/>
            <a:ext cx="1088136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173B4D"/>
                </a:solidFill>
                <a:latin typeface="Arial"/>
              </a:defRPr>
            </a:pPr>
            <a:r>
              <a:t>Grouping addresses shared videos and identical transcripts.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173B4D"/>
                </a:solidFill>
                <a:latin typeface="Arial"/>
              </a:defRPr>
            </a:pPr>
            <a:r>
              <a:t>Dependence through reviewers or channels may remain.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5961888"/>
            <a:ext cx="1088136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1">
                <a:solidFill>
                  <a:srgbClr val="14818B"/>
                </a:solidFill>
                <a:latin typeface="Arial"/>
              </a:defRPr>
            </a:pPr>
            <a:r>
              <a:t>Conclusions apply to this dataset, annotation policy and experimental configuration.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Three priorities for extending the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§6.4.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84248"/>
            <a:ext cx="3511296" cy="38221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984248"/>
            <a:ext cx="50292" cy="3822191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185416"/>
            <a:ext cx="309067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1  Validate labels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916936"/>
            <a:ext cx="3090672" cy="2779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0">
                <a:solidFill>
                  <a:srgbClr val="173B4D"/>
                </a:solidFill>
                <a:latin typeface="Arial"/>
              </a:defRPr>
            </a:pPr>
            <a:r>
              <a:t>Check excerpt relevance.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300" b="0">
                <a:solidFill>
                  <a:srgbClr val="173B4D"/>
                </a:solidFill>
                <a:latin typeface="Arial"/>
              </a:defRPr>
            </a:pPr>
            <a:endParaRPr/>
          </a:p>
          <a:p>
            <a:pPr algn="l">
              <a:lnSpc>
                <a:spcPct val="112000"/>
              </a:lnSpc>
              <a:spcAft>
                <a:spcPts val="500"/>
              </a:spcAft>
              <a:defRPr sz="2300" b="0">
                <a:solidFill>
                  <a:srgbClr val="173B4D"/>
                </a:solidFill>
                <a:latin typeface="Arial"/>
              </a:defRPr>
            </a:pPr>
            <a:r>
              <a:t>Collect independent human annotations.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984248"/>
            <a:ext cx="3511296" cy="38221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34256" y="1984248"/>
            <a:ext cx="50292" cy="3822191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185416"/>
            <a:ext cx="309067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2  Broaden the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916936"/>
            <a:ext cx="3090672" cy="2779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173B4D"/>
                </a:solidFill>
                <a:latin typeface="Arial"/>
              </a:defRPr>
            </a:pPr>
            <a:r>
              <a:t>Add independent sources and rare-emotion cases.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173B4D"/>
                </a:solidFill>
                <a:latin typeface="Arial"/>
              </a:defRPr>
            </a:pPr>
            <a:endParaRPr/>
          </a:p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173B4D"/>
                </a:solidFill>
                <a:latin typeface="Arial"/>
              </a:defRPr>
            </a:pPr>
            <a:r>
              <a:t>Test new channels and platforms.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1984248"/>
            <a:ext cx="3511296" cy="38221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74152" y="1984248"/>
            <a:ext cx="50292" cy="3822191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4464" y="2185416"/>
            <a:ext cx="3090672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3  Refine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augmentation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163824"/>
            <a:ext cx="3090672" cy="253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Use comparable review or perfume units.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endParaRPr/>
          </a:p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Test generation strategies on independent natural reviews.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88A2A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Three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88A2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88A2AF"/>
                </a:solidFill>
                <a:latin typeface="Arial"/>
              </a:defRPr>
            </a:pPr>
            <a:r>
              <a:t>Thesis §§6.1–6.3.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88A2AF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74519"/>
            <a:ext cx="6217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600" b="1">
                <a:solidFill>
                  <a:srgbClr val="88A2A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874519"/>
            <a:ext cx="984808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Reproducible representation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2395727"/>
            <a:ext cx="984808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Review transcripts become lexical, dimensional and contextual emotion features.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127248"/>
            <a:ext cx="6217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600" b="1">
                <a:solidFill>
                  <a:srgbClr val="88A2A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3127248"/>
            <a:ext cx="984808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Comparative benchmark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3648456"/>
            <a:ext cx="984808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Five approaches show strengths that vary across metrics and emotions.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379976"/>
            <a:ext cx="6217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600" b="1">
                <a:solidFill>
                  <a:srgbClr val="88A2A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72" y="4379976"/>
            <a:ext cx="984808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Empirical augmentation 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4901184"/>
            <a:ext cx="984808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Generated reviews produce model-dependent changes, without consistent improvement.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5797296"/>
            <a:ext cx="1081735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A traceable dataset, a reproducible workflow and controlled evidence.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88A2AF"/>
                </a:solidFill>
                <a:latin typeface="Arial"/>
              </a:defRPr>
            </a:pPr>
            <a:r>
              <a:t>THESIS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06424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88A2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88A2AF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50008"/>
            <a:ext cx="107899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100" b="0">
                <a:solidFill>
                  <a:srgbClr val="FFFFFF"/>
                </a:solidFill>
                <a:latin typeface="Arial"/>
              </a:defRPr>
            </a:pPr>
            <a: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01568"/>
            <a:ext cx="107899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Ece ÇANGA  |  Çankaya University, Computer Engineering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187952"/>
            <a:ext cx="914400" cy="36576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4590288"/>
            <a:ext cx="1078992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784 perfumes   •   5 models   •   2 training conditions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404104"/>
            <a:ext cx="10607040" cy="740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Understanding emotional language in perfume reviews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through reproducible modelling and evaluation.</a:t>
            </a:r>
          </a:p>
        </p:txBody>
      </p:sp>
      <p:sp>
        <p:nvSpPr>
          <p:cNvPr id="12" name="TextBox 11">
            <a:hlinkClick r:id="rId3" action="ppaction://hlinksldjump"/>
          </p:cNvPr>
          <p:cNvSpPr txBox="1"/>
          <p:nvPr/>
        </p:nvSpPr>
        <p:spPr>
          <a:xfrm>
            <a:off x="10287000" y="6208776"/>
            <a:ext cx="1289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900" b="0">
                <a:solidFill>
                  <a:srgbClr val="88A2AF"/>
                </a:solidFill>
                <a:latin typeface="Arial"/>
              </a:defRPr>
            </a:pPr>
            <a:r>
              <a:t>BACKUP SLIDES →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BACKUP · FULL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Full results: natural training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Tables 9 and 10. Pooled out-of-fold predictions; seven labels; cutoff 0.30.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A1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920240"/>
          <a:ext cx="11000232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Macro F1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Macro AP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Macro ROC-AUC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Logistic Regression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.3592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.3145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.5473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XGBoost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.3260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.3094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1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.5683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Random Forest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.3306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.3346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.5638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BERT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1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.4029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1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.3590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.5533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BiLSTM with Attention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.3486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.2753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.4507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742432"/>
            <a:ext cx="11000232" cy="493776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5806440"/>
            <a:ext cx="105613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All five models are evaluated on the same 784 held-out YouTube perfumes.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BACKUP · FULL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Full results: augmented training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§§3.8 and 4.1.1; Tables 9 and 10. Pooled out-of-fold results; cutoff 0.30.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A2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920240"/>
          <a:ext cx="1100023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Macro F1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Macro AP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Macro ROC-AUC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Logistic Regression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1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.3737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1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.3505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.5372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XGBoost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.3359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.3108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1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.5982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Random Forest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.3247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.3145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.5731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BERT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.3316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.3210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.5267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BiLSTM with Attention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.3466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.2772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.4490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431536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0">
                <a:solidFill>
                  <a:srgbClr val="173B4D"/>
                </a:solidFill>
                <a:latin typeface="Arial"/>
              </a:defRPr>
            </a:pPr>
            <a:r>
              <a:t>Three synthetic reviews per eligible perfume: each has base weight ⅓; natural records total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9436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700" b="0">
                <a:solidFill>
                  <a:srgbClr val="5F727C"/>
                </a:solidFill>
                <a:latin typeface="Arial"/>
              </a:defRPr>
            </a:pPr>
            <a:r>
              <a:t>Class weighting also applies. Equal base weights do not imply identical effective influence across models.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BACKUP · EVALUATION SPLITS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Source grouping and fold sizes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§3.7; Figure 5; Table 8; saved fold assignments.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A3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874519"/>
          <a:ext cx="6711696" cy="3904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778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Outer fold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Perfumes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Source groups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334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113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90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113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90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112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112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1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1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784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1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359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44968" y="1956816"/>
            <a:ext cx="3694176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173B4D"/>
                </a:solidFill>
                <a:latin typeface="Arial"/>
              </a:defRPr>
            </a:pPr>
            <a:r>
              <a:t>Shared videos and normalized identical full transcripts connect perfumes into groups.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4968" y="3694176"/>
            <a:ext cx="3694176" cy="1435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200" b="0">
                <a:solidFill>
                  <a:srgbClr val="173B4D"/>
                </a:solidFill>
                <a:latin typeface="Arial"/>
              </a:defRPr>
            </a:pPr>
            <a:r>
              <a:t>Connections are transitive. Each complete group remains within one fold.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742432"/>
            <a:ext cx="11000232" cy="493776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5806440"/>
            <a:ext cx="105613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00" b="0">
                <a:solidFill>
                  <a:srgbClr val="173B4D"/>
                </a:solidFill>
                <a:latin typeface="Arial"/>
              </a:defRPr>
            </a:pPr>
            <a:r>
              <a:t>Pooled results weight perfumes equally; supplementary analyses weight source groups equally.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BACKUP · PAIRED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Augmentation uncertainty under equal-source weighting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§4.4.3; Table 11. Changes are augmented minus natural-only training.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A4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920240"/>
          <a:ext cx="1100023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Δ Macro AP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Unadjusted 95% interval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Logistic Regression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+.1202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[−.0366, +.1402]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XGBoost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+.0025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[−.0205, +.0381]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Random Forest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−.0244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[−.1079, +.0154]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BERT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−.1458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[−.1726, +.0722]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BiLSTM with Attention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−.0044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[−.0434, +.0274]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9224" y="5202936"/>
            <a:ext cx="109270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0">
                <a:solidFill>
                  <a:srgbClr val="173B4D"/>
                </a:solidFill>
                <a:latin typeface="Arial"/>
              </a:defRPr>
            </a:pPr>
            <a:r>
              <a:t>Seven-label Macro AP. Equal-group weighting answers a different question from pooled scores.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5687568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0">
                <a:solidFill>
                  <a:srgbClr val="5F727C"/>
                </a:solidFill>
                <a:latin typeface="Arial"/>
              </a:defRPr>
            </a:pPr>
            <a:r>
              <a:t>Across seven-label and Fear-omitted analyses, 2 of 30 intervals exclude zero.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1800" b="0">
                <a:solidFill>
                  <a:srgbClr val="5F727C"/>
                </a:solidFill>
                <a:latin typeface="Arial"/>
              </a:defRPr>
            </a:pPr>
            <a:r>
              <a:t>2,000 bootstrap samples; fitted predictions held fixed; no multiple-comparison correction.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BACKUP · REFERENCE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Annotation policy and validation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§3.4; Appendices 2 and 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A5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38528"/>
            <a:ext cx="5349240" cy="36210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938528"/>
            <a:ext cx="50292" cy="3621024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139696"/>
            <a:ext cx="49286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Fixed annotation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871216"/>
            <a:ext cx="4928616" cy="2578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0">
                <a:solidFill>
                  <a:srgbClr val="173B4D"/>
                </a:solidFill>
                <a:latin typeface="Arial"/>
              </a:defRPr>
            </a:pPr>
            <a:r>
              <a:t>Gemini 3.1 Pro with fixed prompts.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00" b="0">
                <a:solidFill>
                  <a:srgbClr val="173B4D"/>
                </a:solidFill>
                <a:latin typeface="Arial"/>
              </a:defRPr>
            </a:pPr>
            <a:endParaRPr/>
          </a:p>
          <a:p>
            <a:pPr algn="l">
              <a:lnSpc>
                <a:spcPct val="112000"/>
              </a:lnSpc>
              <a:spcAft>
                <a:spcPts val="500"/>
              </a:spcAft>
              <a:defRPr sz="2000" b="0">
                <a:solidFill>
                  <a:srgbClr val="173B4D"/>
                </a:solidFill>
                <a:latin typeface="Arial"/>
              </a:defRPr>
            </a:pPr>
            <a:r>
              <a:t>Natural data: 1–2 excerpts, each ≤360 characters. Synthetic data: one review.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000" b="0">
                <a:solidFill>
                  <a:srgbClr val="173B4D"/>
                </a:solidFill>
                <a:latin typeface="Arial"/>
              </a:defRPr>
            </a:pPr>
            <a:endParaRPr/>
          </a:p>
          <a:p>
            <a:pPr algn="l">
              <a:lnSpc>
                <a:spcPct val="112000"/>
              </a:lnSpc>
              <a:spcAft>
                <a:spcPts val="500"/>
              </a:spcAft>
              <a:defRPr sz="2000" b="0">
                <a:solidFill>
                  <a:srgbClr val="173B4D"/>
                </a:solidFill>
                <a:latin typeface="Arial"/>
              </a:defRPr>
            </a:pPr>
            <a:r>
              <a:t>Weak or neutral evidence can produce all-zero labels.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938528"/>
            <a:ext cx="5349240" cy="36210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5352" y="1938528"/>
            <a:ext cx="50292" cy="3621024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55664" y="2139696"/>
            <a:ext cx="49286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Validation boundaries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871216"/>
            <a:ext cx="4928616" cy="2578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Anger excluded: 7 natural positives and 0 synthetic positives.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endParaRPr/>
          </a:p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174 of 784 records had no name anchor found; 20 inspected traces were correct.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742432"/>
            <a:ext cx="11000232" cy="493776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5806440"/>
            <a:ext cx="105613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00" b="0">
                <a:solidFill>
                  <a:srgbClr val="173B4D"/>
                </a:solidFill>
                <a:latin typeface="Arial"/>
              </a:defRPr>
            </a:pPr>
            <a:r>
              <a:t>Traceability does not establish topical relevance or agreement with human emotion judgments.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BACKUP · MODELLING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Input scope and model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§§3.5.3 and 3.6.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A6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874519"/>
          <a:ext cx="6510528" cy="3209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2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Input scope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0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Lexicon and affect dimensions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0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Full transcript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0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Pretrained feature models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0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First 512 characters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0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BERT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0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Up to 96 tokens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0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BiLSTM with Attention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0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Up to 208 tokens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79792" y="1975104"/>
            <a:ext cx="3995928" cy="1106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BERT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GoEmotions initialization; up to 3 epochs.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9792" y="3410712"/>
            <a:ext cx="3995928" cy="1106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BiLSTM</a:t>
            </a:r>
          </a:p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Trained from scratch; up to 12 epochs.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02352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00" b="0">
                <a:solidFill>
                  <a:srgbClr val="173B4D"/>
                </a:solidFill>
                <a:latin typeface="Arial"/>
              </a:defRPr>
            </a:pPr>
            <a:r>
              <a:t>Text probabilities are averaged at perfume level. 4,879 chunks remain after removing two within-perfume duplicates.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742432"/>
            <a:ext cx="11000232" cy="493776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5806440"/>
            <a:ext cx="105613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0">
                <a:solidFill>
                  <a:srgbClr val="173B4D"/>
                </a:solidFill>
                <a:latin typeface="Arial"/>
              </a:defRPr>
            </a:pPr>
            <a:r>
              <a:t>The comparison includes differences in input scope and training configuration.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BACKUP · PER-EMOTION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Per-emotion F1: natural training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Table 14. Perfume-level reference support; cutoff 0.30; BiLSTM uses attention.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A7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920240"/>
          <a:ext cx="11000232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7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Emotion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Support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LR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XGBoost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RF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BERT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BiLSTM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Joy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622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.8614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.8774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.8848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.8848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.8848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Trust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476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.7376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.7179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.7556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.7556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.7556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Anticipation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366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.6380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.5831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.6294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.6365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.6365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Surprise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.1274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.1034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.0444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.0435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.1068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Disgust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.0235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.0000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.0000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.0000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.0197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Sadness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.0435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.0000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.0000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.0000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.0261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Fear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.0833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.0000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.0000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.5000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9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.0108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742432"/>
            <a:ext cx="11000232" cy="493776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5806440"/>
            <a:ext cx="105613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Rare-emotion scores can change substantially with one prediction.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BACKUP ·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Selected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All eight works are cited in the thesis. Titles are linked to the source pages.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A8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51755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700" b="1">
                <a:solidFill>
                  <a:srgbClr val="14818B"/>
                </a:solidFill>
                <a:latin typeface="Arial"/>
              </a:defRPr>
            </a:pPr>
            <a:r>
              <a:t>Nikitina &amp; Furuoka (2023)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175504" cy="740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0">
                <a:solidFill>
                  <a:srgbClr val="173B4D"/>
                </a:solidFill>
                <a:latin typeface="Arial"/>
              </a:defRPr>
            </a:pPr>
            <a:r>
              <a:rPr u="none">
                <a:solidFill>
                  <a:srgbClr val="173B4D"/>
                </a:solidFill>
                <a:hlinkClick r:id="rId3"/>
              </a:rPr>
              <a:t>Words of scents: A linguistic analysis of online perfume reviews.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98648"/>
            <a:ext cx="51755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700" b="1">
                <a:solidFill>
                  <a:srgbClr val="14818B"/>
                </a:solidFill>
                <a:latin typeface="Arial"/>
              </a:defRPr>
            </a:pPr>
            <a:r>
              <a:t>Nandwani &amp; Verma (2021)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36976"/>
            <a:ext cx="5175504" cy="740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0">
                <a:solidFill>
                  <a:srgbClr val="173B4D"/>
                </a:solidFill>
                <a:latin typeface="Arial"/>
              </a:defRPr>
            </a:pPr>
            <a:r>
              <a:rPr u="none">
                <a:solidFill>
                  <a:srgbClr val="173B4D"/>
                </a:solidFill>
                <a:hlinkClick r:id="rId4"/>
              </a:rPr>
              <a:t>A review on sentiment analysis and emotion detection from 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86783"/>
            <a:ext cx="51755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700" b="1">
                <a:solidFill>
                  <a:srgbClr val="14818B"/>
                </a:solidFill>
                <a:latin typeface="Arial"/>
              </a:defRPr>
            </a:pPr>
            <a:r>
              <a:t>Mohammad &amp; Turney (2013)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25112"/>
            <a:ext cx="5175504" cy="740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0">
                <a:solidFill>
                  <a:srgbClr val="173B4D"/>
                </a:solidFill>
                <a:latin typeface="Arial"/>
              </a:defRPr>
            </a:pPr>
            <a:r>
              <a:rPr u="none">
                <a:solidFill>
                  <a:srgbClr val="173B4D"/>
                </a:solidFill>
                <a:hlinkClick r:id="rId5"/>
              </a:rPr>
              <a:t>Crowdsourcing a Word–Emotion Association Lexicon.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51755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700" b="1">
                <a:solidFill>
                  <a:srgbClr val="14818B"/>
                </a:solidFill>
                <a:latin typeface="Arial"/>
              </a:defRPr>
            </a:pPr>
            <a:r>
              <a:t>Mohammad (2018)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13248"/>
            <a:ext cx="5175504" cy="740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0">
                <a:solidFill>
                  <a:srgbClr val="173B4D"/>
                </a:solidFill>
                <a:latin typeface="Arial"/>
              </a:defRPr>
            </a:pPr>
            <a:r>
              <a:rPr u="none">
                <a:solidFill>
                  <a:srgbClr val="173B4D"/>
                </a:solidFill>
                <a:hlinkClick r:id="rId6"/>
              </a:rPr>
              <a:t>Obtaining Reliable Human Ratings of Valence, Arousal, and Dominance for 20,000 English Words.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810512"/>
            <a:ext cx="51755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700" b="1">
                <a:solidFill>
                  <a:srgbClr val="14818B"/>
                </a:solidFill>
                <a:latin typeface="Arial"/>
              </a:defRPr>
            </a:pPr>
            <a:r>
              <a:t>Demszky et al. (2020)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2148840"/>
            <a:ext cx="5175504" cy="740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0">
                <a:solidFill>
                  <a:srgbClr val="173B4D"/>
                </a:solidFill>
                <a:latin typeface="Arial"/>
              </a:defRPr>
            </a:pPr>
            <a:r>
              <a:rPr u="none">
                <a:solidFill>
                  <a:srgbClr val="173B4D"/>
                </a:solidFill>
                <a:hlinkClick r:id="rId7"/>
              </a:rPr>
              <a:t>GoEmotions: A Dataset of Fine-Grained Emotions.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898648"/>
            <a:ext cx="51755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700" b="1">
                <a:solidFill>
                  <a:srgbClr val="14818B"/>
                </a:solidFill>
                <a:latin typeface="Arial"/>
              </a:defRPr>
            </a:pPr>
            <a:r>
              <a:t>Devlin et al. (2019)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3236976"/>
            <a:ext cx="5175504" cy="740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0">
                <a:solidFill>
                  <a:srgbClr val="173B4D"/>
                </a:solidFill>
                <a:latin typeface="Arial"/>
              </a:defRPr>
            </a:pPr>
            <a:r>
              <a:rPr u="none">
                <a:solidFill>
                  <a:srgbClr val="173B4D"/>
                </a:solidFill>
                <a:hlinkClick r:id="rId8"/>
              </a:rPr>
              <a:t>BERT: Pre-training of Deep Bidirectional Transformers for Language Understanding.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986783"/>
            <a:ext cx="51755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700" b="1">
                <a:solidFill>
                  <a:srgbClr val="14818B"/>
                </a:solidFill>
                <a:latin typeface="Arial"/>
              </a:defRPr>
            </a:pPr>
            <a:r>
              <a:t>Saito &amp; Rehmsmeier (2015)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4325112"/>
            <a:ext cx="5175504" cy="740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0">
                <a:solidFill>
                  <a:srgbClr val="173B4D"/>
                </a:solidFill>
                <a:latin typeface="Arial"/>
              </a:defRPr>
            </a:pPr>
            <a:r>
              <a:rPr u="none">
                <a:solidFill>
                  <a:srgbClr val="173B4D"/>
                </a:solidFill>
                <a:hlinkClick r:id="rId9"/>
              </a:rPr>
              <a:t>The Precision–Recall Plot Is More Informative than the ROC Plot When Evaluating Binary Classifiers on Imbalanced Datasets.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5074920"/>
            <a:ext cx="51755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700" b="1">
                <a:solidFill>
                  <a:srgbClr val="14818B"/>
                </a:solidFill>
                <a:latin typeface="Arial"/>
              </a:defRPr>
            </a:pPr>
            <a:r>
              <a:t>Niu et al. (2024)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5413248"/>
            <a:ext cx="5175504" cy="740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0">
                <a:solidFill>
                  <a:srgbClr val="173B4D"/>
                </a:solidFill>
                <a:latin typeface="Arial"/>
              </a:defRPr>
            </a:pPr>
            <a:r>
              <a:rPr u="none">
                <a:solidFill>
                  <a:srgbClr val="173B4D"/>
                </a:solidFill>
                <a:hlinkClick r:id="rId10"/>
              </a:rPr>
              <a:t>Rethinking Emotion Annotations in the Era of Large Language Models.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BACKUP · PREDICTION CUTOFF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Threshold sensitivity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§4.5.2; Table 13. Macro F1 from the same YouTube-only out-of-fold probabilities.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A9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920240"/>
          <a:ext cx="1100023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0.20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0.30 official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0.50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0.70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Logistic Regression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.3590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.3592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.2985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.1690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XGBoost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.3409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.3260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.2950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.2248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Random Forest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.3526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.3306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.2952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.1669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BERT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.3926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.4029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.2899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.0000</a:t>
                      </a:r>
                    </a:p>
                  </a:txBody>
                  <a:tcPr marL="146304" marR="146304" marT="36576" marB="36576"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BiLSTM with Attention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.3515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.3486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.1943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.0000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9224" y="5449824"/>
            <a:ext cx="108813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00" b="0">
                <a:solidFill>
                  <a:srgbClr val="173B4D"/>
                </a:solidFill>
                <a:latin typeface="Arial"/>
              </a:defRPr>
            </a:pPr>
            <a:r>
              <a:t>Changing the cutoff changes the labels without retraining. AP and ROC-AUC are unchanged.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5952744"/>
            <a:ext cx="1088136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00" b="1">
                <a:solidFill>
                  <a:srgbClr val="14818B"/>
                </a:solidFill>
                <a:latin typeface="Arial"/>
              </a:defRPr>
            </a:pPr>
            <a:r>
              <a:t>The official 0.30 cutoff was specified before this sensitivity check.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64008" cy="201168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291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18B"/>
                </a:solidFill>
                <a:latin typeface="Arial"/>
              </a:defRPr>
            </a:pPr>
            <a:r>
              <a:t>BACKUP · EVIDENCE 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200" b="1">
                <a:solidFill>
                  <a:srgbClr val="173B4D"/>
                </a:solidFill>
                <a:latin typeface="Arial"/>
              </a:defRPr>
            </a:pPr>
            <a:r>
              <a:t>Model-comparison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0232" cy="10972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19" b="0">
                <a:solidFill>
                  <a:srgbClr val="5F727C"/>
                </a:solidFill>
                <a:latin typeface="Arial"/>
              </a:defRPr>
            </a:pPr>
            <a:r>
              <a:t>Thesis §4.4.2. Unadjusted 95% source-group bootstrap intervals; conditional on fitted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100" b="0">
                <a:solidFill>
                  <a:srgbClr val="5F727C"/>
                </a:solidFill>
                <a:latin typeface="Arial"/>
              </a:defRPr>
            </a:pPr>
            <a:r>
              <a:t>A10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19656"/>
            <a:ext cx="1097280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Supplementary analysis: equal weight for each source group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2487168"/>
          <a:ext cx="11000232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0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BERT point estimate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Macro F1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Macro AP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Macro ROC-AUC</a:t>
                      </a:r>
                    </a:p>
                  </a:txBody>
                  <a:tcPr marL="146304" marR="146304" marT="36576" marB="36576" anchor="ctr">
                    <a:solidFill>
                      <a:srgbClr val="173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Highest observed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.4839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.4665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2200" b="0">
                          <a:solidFill>
                            <a:srgbClr val="173B4D"/>
                          </a:solidFill>
                          <a:latin typeface="Arial"/>
                        </a:defRPr>
                      </a:pPr>
                      <a:r>
                        <a:t>.5932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94360" y="3941063"/>
            <a:ext cx="5349240" cy="15179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3941063"/>
            <a:ext cx="50292" cy="1517904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4142231"/>
            <a:ext cx="49286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F1 comparisons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636007"/>
            <a:ext cx="4928616" cy="713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All 10 paired intervals include zero.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941063"/>
            <a:ext cx="5349240" cy="15179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C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45352" y="3941063"/>
            <a:ext cx="50292" cy="1517904"/>
          </a:xfrm>
          <a:prstGeom prst="rect">
            <a:avLst/>
          </a:prstGeom>
          <a:solidFill>
            <a:srgbClr val="14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4142231"/>
            <a:ext cx="49286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18B"/>
                </a:solidFill>
                <a:latin typeface="Arial"/>
              </a:defRPr>
            </a:pPr>
            <a:r>
              <a:t>Ranking comparisons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4636007"/>
            <a:ext cx="4928616" cy="713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00" b="0">
                <a:solidFill>
                  <a:srgbClr val="173B4D"/>
                </a:solidFill>
                <a:latin typeface="Arial"/>
              </a:defRPr>
            </a:pPr>
            <a:r>
              <a:t>7 of 20 intervals exclude zero, mainly involving BiLSTM.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742432"/>
            <a:ext cx="11000232" cy="493776"/>
          </a:xfrm>
          <a:prstGeom prst="roundRect">
            <a:avLst>
              <a:gd name="adj" fmla="val 8000"/>
            </a:avLst>
          </a:prstGeom>
          <a:solidFill>
            <a:srgbClr val="EA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5806440"/>
            <a:ext cx="105613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0">
                <a:solidFill>
                  <a:srgbClr val="173B4D"/>
                </a:solidFill>
                <a:latin typeface="Arial"/>
              </a:defRPr>
            </a:pPr>
            <a:r>
              <a:t>These results do not establish one model as clearly best across all measures.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3816</Words>
  <Application>Microsoft Macintosh PowerPoint</Application>
  <PresentationFormat>Widescreen</PresentationFormat>
  <Paragraphs>794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Emotions in Perfume Reviews — Thesis Defense</dc:title>
  <dc:subject>Advanced Sentiment Analysis Framework for Olfactory Perception Mining</dc:subject>
  <dc:creator>Ece ÇANGA</dc:creator>
  <cp:keywords>thesis defense, perfume reviews, multi-label emotion classification</cp:keywords>
  <dc:description>30 main slides and 10 backup slides. Editable text, charts, tables and diagrams.</dc:description>
  <cp:lastModifiedBy>Ece ÇANGA</cp:lastModifiedBy>
  <cp:revision>1</cp:revision>
  <dcterms:created xsi:type="dcterms:W3CDTF">2013-01-27T09:14:16Z</dcterms:created>
  <dcterms:modified xsi:type="dcterms:W3CDTF">2026-09-21T08:04:36Z</dcterms:modified>
  <cp:category/>
</cp:coreProperties>
</file>